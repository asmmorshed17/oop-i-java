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0" r:id="rId8"/>
    <p:sldId id="258" r:id="rId9"/>
    <p:sldId id="259" r:id="rId10"/>
    <p:sldId id="269" r:id="rId11"/>
    <p:sldId id="270" r:id="rId12"/>
    <p:sldId id="26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3" r:id="rId23"/>
  </p:sldIdLst>
  <p:sldSz cx="11887200" cy="6858000"/>
  <p:notesSz cx="118872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2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1540" y="2125980"/>
            <a:ext cx="1010412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83080" y="3840480"/>
            <a:ext cx="832104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6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6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94360" y="1577340"/>
            <a:ext cx="517093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21908" y="1577340"/>
            <a:ext cx="517093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1445516"/>
            <a:ext cx="644461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659" y="2220844"/>
            <a:ext cx="10542905" cy="1781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6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41648" y="6377940"/>
            <a:ext cx="38039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94360" y="6377940"/>
            <a:ext cx="273405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58784" y="6377940"/>
            <a:ext cx="273405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876556"/>
            <a:ext cx="5613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Module</a:t>
            </a:r>
            <a:r>
              <a:rPr spc="-430" dirty="0"/>
              <a:t> </a:t>
            </a:r>
            <a:r>
              <a:rPr spc="-1060" dirty="0"/>
              <a:t>1</a:t>
            </a:r>
            <a:r>
              <a:rPr spc="-425" dirty="0"/>
              <a:t> </a:t>
            </a:r>
            <a:r>
              <a:rPr spc="-254" dirty="0"/>
              <a:t>—</a:t>
            </a:r>
            <a:r>
              <a:rPr spc="-430" dirty="0"/>
              <a:t> </a:t>
            </a:r>
            <a:r>
              <a:rPr spc="-75" dirty="0"/>
              <a:t>Foundations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1725045"/>
            <a:ext cx="485838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70" dirty="0">
                <a:solidFill>
                  <a:srgbClr val="666666"/>
                </a:solidFill>
                <a:latin typeface="Lucida Sans Unicode"/>
                <a:cs typeface="Lucida Sans Unicode"/>
              </a:rPr>
              <a:t>Core</a:t>
            </a:r>
            <a:r>
              <a:rPr sz="1400" spc="-20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666666"/>
                </a:solidFill>
                <a:latin typeface="Lucida Sans Unicode"/>
                <a:cs typeface="Lucida Sans Unicode"/>
              </a:rPr>
              <a:t>concepts</a:t>
            </a:r>
            <a:r>
              <a:rPr sz="1400" spc="-20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66666"/>
                </a:solidFill>
                <a:latin typeface="Lucida Sans Unicode"/>
                <a:cs typeface="Lucida Sans Unicode"/>
              </a:rPr>
              <a:t>of</a:t>
            </a:r>
            <a:r>
              <a:rPr sz="1400" spc="-20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195" dirty="0">
                <a:solidFill>
                  <a:srgbClr val="666666"/>
                </a:solidFill>
                <a:latin typeface="Lucida Sans Unicode"/>
                <a:cs typeface="Lucida Sans Unicode"/>
              </a:rPr>
              <a:t>Java</a:t>
            </a:r>
            <a:r>
              <a:rPr sz="1400" spc="-20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66666"/>
                </a:solidFill>
                <a:latin typeface="Lucida Sans Unicode"/>
                <a:cs typeface="Lucida Sans Unicode"/>
              </a:rPr>
              <a:t>Exceptions</a:t>
            </a:r>
            <a:r>
              <a:rPr sz="1400" spc="-20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105" dirty="0">
                <a:solidFill>
                  <a:srgbClr val="666666"/>
                </a:solidFill>
                <a:latin typeface="Lucida Sans Unicode"/>
                <a:cs typeface="Lucida Sans Unicode"/>
              </a:rPr>
              <a:t>and</a:t>
            </a:r>
            <a:r>
              <a:rPr sz="1400" spc="-20" dirty="0">
                <a:solidFill>
                  <a:srgbClr val="666666"/>
                </a:solidFill>
                <a:latin typeface="Lucida Sans Unicode"/>
                <a:cs typeface="Lucida Sans Unicode"/>
              </a:rPr>
              <a:t> Error</a:t>
            </a:r>
            <a:r>
              <a:rPr sz="1400" spc="-15" dirty="0">
                <a:solidFill>
                  <a:srgbClr val="666666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Lucida Sans Unicode"/>
                <a:cs typeface="Lucida Sans Unicode"/>
              </a:rPr>
              <a:t>Handling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5143500"/>
            <a:ext cx="1783080" cy="1714500"/>
          </a:xfrm>
          <a:custGeom>
            <a:avLst/>
            <a:gdLst/>
            <a:ahLst/>
            <a:cxnLst/>
            <a:rect l="l" t="t" r="r" b="b"/>
            <a:pathLst>
              <a:path w="1783080" h="1714500">
                <a:moveTo>
                  <a:pt x="178308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48883" y="640"/>
                </a:lnTo>
                <a:lnTo>
                  <a:pt x="97451" y="2549"/>
                </a:lnTo>
                <a:lnTo>
                  <a:pt x="145688" y="5711"/>
                </a:lnTo>
                <a:lnTo>
                  <a:pt x="193576" y="10109"/>
                </a:lnTo>
                <a:lnTo>
                  <a:pt x="241097" y="15726"/>
                </a:lnTo>
                <a:lnTo>
                  <a:pt x="288234" y="22545"/>
                </a:lnTo>
                <a:lnTo>
                  <a:pt x="334970" y="30551"/>
                </a:lnTo>
                <a:lnTo>
                  <a:pt x="381288" y="39725"/>
                </a:lnTo>
                <a:lnTo>
                  <a:pt x="427170" y="50052"/>
                </a:lnTo>
                <a:lnTo>
                  <a:pt x="472598" y="61515"/>
                </a:lnTo>
                <a:lnTo>
                  <a:pt x="517556" y="74097"/>
                </a:lnTo>
                <a:lnTo>
                  <a:pt x="562026" y="87782"/>
                </a:lnTo>
                <a:lnTo>
                  <a:pt x="605991" y="102552"/>
                </a:lnTo>
                <a:lnTo>
                  <a:pt x="649434" y="118392"/>
                </a:lnTo>
                <a:lnTo>
                  <a:pt x="692336" y="135284"/>
                </a:lnTo>
                <a:lnTo>
                  <a:pt x="734681" y="153212"/>
                </a:lnTo>
                <a:lnTo>
                  <a:pt x="776452" y="172160"/>
                </a:lnTo>
                <a:lnTo>
                  <a:pt x="817631" y="192109"/>
                </a:lnTo>
                <a:lnTo>
                  <a:pt x="858200" y="213045"/>
                </a:lnTo>
                <a:lnTo>
                  <a:pt x="898144" y="234950"/>
                </a:lnTo>
                <a:lnTo>
                  <a:pt x="937443" y="257807"/>
                </a:lnTo>
                <a:lnTo>
                  <a:pt x="976081" y="281600"/>
                </a:lnTo>
                <a:lnTo>
                  <a:pt x="1014040" y="306312"/>
                </a:lnTo>
                <a:lnTo>
                  <a:pt x="1051303" y="331927"/>
                </a:lnTo>
                <a:lnTo>
                  <a:pt x="1087854" y="358427"/>
                </a:lnTo>
                <a:lnTo>
                  <a:pt x="1123673" y="385797"/>
                </a:lnTo>
                <a:lnTo>
                  <a:pt x="1158745" y="414019"/>
                </a:lnTo>
                <a:lnTo>
                  <a:pt x="1193052" y="443077"/>
                </a:lnTo>
                <a:lnTo>
                  <a:pt x="1226576" y="472954"/>
                </a:lnTo>
                <a:lnTo>
                  <a:pt x="1259300" y="503634"/>
                </a:lnTo>
                <a:lnTo>
                  <a:pt x="1291207" y="535099"/>
                </a:lnTo>
                <a:lnTo>
                  <a:pt x="1322279" y="567334"/>
                </a:lnTo>
                <a:lnTo>
                  <a:pt x="1352499" y="600321"/>
                </a:lnTo>
                <a:lnTo>
                  <a:pt x="1381850" y="634044"/>
                </a:lnTo>
                <a:lnTo>
                  <a:pt x="1410315" y="668486"/>
                </a:lnTo>
                <a:lnTo>
                  <a:pt x="1437875" y="703630"/>
                </a:lnTo>
                <a:lnTo>
                  <a:pt x="1464515" y="739461"/>
                </a:lnTo>
                <a:lnTo>
                  <a:pt x="1490215" y="775960"/>
                </a:lnTo>
                <a:lnTo>
                  <a:pt x="1514960" y="813112"/>
                </a:lnTo>
                <a:lnTo>
                  <a:pt x="1538732" y="850900"/>
                </a:lnTo>
                <a:lnTo>
                  <a:pt x="1561512" y="889306"/>
                </a:lnTo>
                <a:lnTo>
                  <a:pt x="1583285" y="928316"/>
                </a:lnTo>
                <a:lnTo>
                  <a:pt x="1604033" y="967911"/>
                </a:lnTo>
                <a:lnTo>
                  <a:pt x="1623738" y="1008075"/>
                </a:lnTo>
                <a:lnTo>
                  <a:pt x="1642383" y="1048791"/>
                </a:lnTo>
                <a:lnTo>
                  <a:pt x="1659951" y="1090044"/>
                </a:lnTo>
                <a:lnTo>
                  <a:pt x="1676425" y="1131815"/>
                </a:lnTo>
                <a:lnTo>
                  <a:pt x="1691786" y="1174089"/>
                </a:lnTo>
                <a:lnTo>
                  <a:pt x="1706018" y="1216849"/>
                </a:lnTo>
                <a:lnTo>
                  <a:pt x="1719103" y="1260078"/>
                </a:lnTo>
                <a:lnTo>
                  <a:pt x="1731025" y="1303759"/>
                </a:lnTo>
                <a:lnTo>
                  <a:pt x="1741765" y="1347876"/>
                </a:lnTo>
                <a:lnTo>
                  <a:pt x="1751306" y="1392412"/>
                </a:lnTo>
                <a:lnTo>
                  <a:pt x="1759632" y="1437351"/>
                </a:lnTo>
                <a:lnTo>
                  <a:pt x="1766724" y="1482675"/>
                </a:lnTo>
                <a:lnTo>
                  <a:pt x="1772566" y="1528368"/>
                </a:lnTo>
                <a:lnTo>
                  <a:pt x="1777140" y="1574414"/>
                </a:lnTo>
                <a:lnTo>
                  <a:pt x="1780428" y="1620796"/>
                </a:lnTo>
                <a:lnTo>
                  <a:pt x="1782414" y="1667496"/>
                </a:lnTo>
                <a:lnTo>
                  <a:pt x="1783080" y="1714500"/>
                </a:lnTo>
                <a:close/>
              </a:path>
            </a:pathLst>
          </a:custGeom>
          <a:solidFill>
            <a:srgbClr val="FFA50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867918"/>
            <a:ext cx="32308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/>
              <a:t>Table</a:t>
            </a:r>
            <a:r>
              <a:rPr sz="2800" spc="-330" dirty="0"/>
              <a:t> </a:t>
            </a:r>
            <a:r>
              <a:rPr sz="2800" spc="-95" dirty="0"/>
              <a:t>of</a:t>
            </a:r>
            <a:r>
              <a:rPr sz="2800" spc="-325" dirty="0"/>
              <a:t> </a:t>
            </a:r>
            <a:r>
              <a:rPr sz="2800" spc="-60" dirty="0"/>
              <a:t>Contents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81659" y="1715419"/>
            <a:ext cx="2280285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2700" spc="-794" baseline="-12345" dirty="0">
                <a:solidFill>
                  <a:srgbClr val="878787"/>
                </a:solidFill>
                <a:latin typeface="Arial Black"/>
                <a:cs typeface="Arial Black"/>
              </a:rPr>
              <a:t>1</a:t>
            </a:r>
            <a:r>
              <a:rPr sz="2700" spc="585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666666"/>
                </a:solidFill>
                <a:latin typeface="Arial Black"/>
                <a:cs typeface="Arial Black"/>
              </a:rPr>
              <a:t>What</a:t>
            </a:r>
            <a:r>
              <a:rPr sz="1400" spc="-13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666666"/>
                </a:solidFill>
                <a:latin typeface="Arial Black"/>
                <a:cs typeface="Arial Black"/>
              </a:rPr>
              <a:t>is</a:t>
            </a:r>
            <a:r>
              <a:rPr sz="1400" spc="-130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666666"/>
                </a:solidFill>
                <a:latin typeface="Arial Black"/>
                <a:cs typeface="Arial Black"/>
              </a:rPr>
              <a:t>an</a:t>
            </a:r>
            <a:r>
              <a:rPr sz="1400" spc="-13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666666"/>
                </a:solidFill>
                <a:latin typeface="Arial Black"/>
                <a:cs typeface="Arial Black"/>
              </a:rPr>
              <a:t>Exception?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9659" y="1715419"/>
            <a:ext cx="2837815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2</a:t>
            </a:r>
            <a:r>
              <a:rPr sz="2700" spc="405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Call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666666"/>
                </a:solidFill>
                <a:latin typeface="Arial Black"/>
                <a:cs typeface="Arial Black"/>
              </a:rPr>
              <a:t>Stack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666666"/>
                </a:solidFill>
                <a:latin typeface="Arial Black"/>
                <a:cs typeface="Arial Black"/>
              </a:rPr>
              <a:t>and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Propagation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2259" y="1669691"/>
            <a:ext cx="268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3</a:t>
            </a:r>
            <a:r>
              <a:rPr sz="2700" spc="397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666666"/>
                </a:solidFill>
                <a:latin typeface="Arial Black"/>
                <a:cs typeface="Arial Black"/>
              </a:rPr>
              <a:t>The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666666"/>
                </a:solidFill>
                <a:latin typeface="Arial Black"/>
                <a:cs typeface="Arial Black"/>
              </a:rPr>
              <a:t>Throwable</a:t>
            </a:r>
            <a:r>
              <a:rPr sz="1400" spc="-16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Hierarchy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659" y="2484277"/>
            <a:ext cx="1400810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4</a:t>
            </a:r>
            <a:r>
              <a:rPr sz="2700" spc="487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666666"/>
                </a:solidFill>
                <a:latin typeface="Arial Black"/>
                <a:cs typeface="Arial Black"/>
              </a:rPr>
              <a:t>Lab</a:t>
            </a:r>
            <a:r>
              <a:rPr sz="1400" spc="-15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Black"/>
                <a:cs typeface="Arial Black"/>
              </a:rPr>
              <a:t>Activity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4259" y="2438549"/>
            <a:ext cx="1881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12345" dirty="0">
                <a:solidFill>
                  <a:srgbClr val="878787"/>
                </a:solidFill>
                <a:latin typeface="Arial Black"/>
                <a:cs typeface="Arial Black"/>
              </a:rPr>
              <a:t>5</a:t>
            </a:r>
            <a:r>
              <a:rPr sz="2700" spc="480" baseline="-12345" dirty="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 Black"/>
                <a:cs typeface="Arial Black"/>
              </a:rPr>
              <a:t>Checkpoint</a:t>
            </a:r>
            <a:r>
              <a:rPr sz="1400" spc="-155" dirty="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666666"/>
                </a:solidFill>
                <a:latin typeface="Arial Black"/>
                <a:cs typeface="Arial Black"/>
              </a:rPr>
              <a:t>Quiz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2361565" cy="1377315"/>
          </a:xfrm>
          <a:custGeom>
            <a:avLst/>
            <a:gdLst/>
            <a:ahLst/>
            <a:cxnLst/>
            <a:rect l="l" t="t" r="r" b="b"/>
            <a:pathLst>
              <a:path w="2361565" h="1377315">
                <a:moveTo>
                  <a:pt x="342825" y="1346846"/>
                </a:moveTo>
                <a:lnTo>
                  <a:pt x="231198" y="1356612"/>
                </a:lnTo>
                <a:lnTo>
                  <a:pt x="0" y="1356612"/>
                </a:lnTo>
                <a:lnTo>
                  <a:pt x="0" y="0"/>
                </a:lnTo>
                <a:lnTo>
                  <a:pt x="2361070" y="0"/>
                </a:lnTo>
                <a:lnTo>
                  <a:pt x="2359671" y="10412"/>
                </a:lnTo>
                <a:lnTo>
                  <a:pt x="2353121" y="35812"/>
                </a:lnTo>
                <a:lnTo>
                  <a:pt x="2345161" y="73912"/>
                </a:lnTo>
                <a:lnTo>
                  <a:pt x="2335808" y="112012"/>
                </a:lnTo>
                <a:lnTo>
                  <a:pt x="2325080" y="137412"/>
                </a:lnTo>
                <a:lnTo>
                  <a:pt x="2312993" y="175512"/>
                </a:lnTo>
                <a:lnTo>
                  <a:pt x="2299564" y="213612"/>
                </a:lnTo>
                <a:lnTo>
                  <a:pt x="2284811" y="239012"/>
                </a:lnTo>
                <a:lnTo>
                  <a:pt x="2268752" y="277112"/>
                </a:lnTo>
                <a:lnTo>
                  <a:pt x="2251403" y="302512"/>
                </a:lnTo>
                <a:lnTo>
                  <a:pt x="2232781" y="340612"/>
                </a:lnTo>
                <a:lnTo>
                  <a:pt x="2212904" y="366012"/>
                </a:lnTo>
                <a:lnTo>
                  <a:pt x="2191788" y="404112"/>
                </a:lnTo>
                <a:lnTo>
                  <a:pt x="2169452" y="429512"/>
                </a:lnTo>
                <a:lnTo>
                  <a:pt x="2145912" y="467612"/>
                </a:lnTo>
                <a:lnTo>
                  <a:pt x="2121185" y="493012"/>
                </a:lnTo>
                <a:lnTo>
                  <a:pt x="2095289" y="531112"/>
                </a:lnTo>
                <a:lnTo>
                  <a:pt x="2068241" y="556512"/>
                </a:lnTo>
                <a:lnTo>
                  <a:pt x="2040058" y="581912"/>
                </a:lnTo>
                <a:lnTo>
                  <a:pt x="2010756" y="620012"/>
                </a:lnTo>
                <a:lnTo>
                  <a:pt x="1980355" y="645412"/>
                </a:lnTo>
                <a:lnTo>
                  <a:pt x="1948870" y="670812"/>
                </a:lnTo>
                <a:lnTo>
                  <a:pt x="1916319" y="696212"/>
                </a:lnTo>
                <a:lnTo>
                  <a:pt x="1882718" y="734312"/>
                </a:lnTo>
                <a:lnTo>
                  <a:pt x="1848086" y="759712"/>
                </a:lnTo>
                <a:lnTo>
                  <a:pt x="1812440" y="785112"/>
                </a:lnTo>
                <a:lnTo>
                  <a:pt x="1775796" y="810512"/>
                </a:lnTo>
                <a:lnTo>
                  <a:pt x="1738171" y="835912"/>
                </a:lnTo>
                <a:lnTo>
                  <a:pt x="1699584" y="861312"/>
                </a:lnTo>
                <a:lnTo>
                  <a:pt x="1660051" y="886712"/>
                </a:lnTo>
                <a:lnTo>
                  <a:pt x="1619589" y="912112"/>
                </a:lnTo>
                <a:lnTo>
                  <a:pt x="1578216" y="937512"/>
                </a:lnTo>
                <a:lnTo>
                  <a:pt x="1535949" y="962912"/>
                </a:lnTo>
                <a:lnTo>
                  <a:pt x="1492804" y="988312"/>
                </a:lnTo>
                <a:lnTo>
                  <a:pt x="1448800" y="1013712"/>
                </a:lnTo>
                <a:lnTo>
                  <a:pt x="1403953" y="1026412"/>
                </a:lnTo>
                <a:lnTo>
                  <a:pt x="1311800" y="1077212"/>
                </a:lnTo>
                <a:lnTo>
                  <a:pt x="1264528" y="1089912"/>
                </a:lnTo>
                <a:lnTo>
                  <a:pt x="1216482" y="1115312"/>
                </a:lnTo>
                <a:lnTo>
                  <a:pt x="1167680" y="1128012"/>
                </a:lnTo>
                <a:lnTo>
                  <a:pt x="1118138" y="1153412"/>
                </a:lnTo>
                <a:lnTo>
                  <a:pt x="1067874" y="1166112"/>
                </a:lnTo>
                <a:lnTo>
                  <a:pt x="1016905" y="1191512"/>
                </a:lnTo>
                <a:lnTo>
                  <a:pt x="912921" y="1216912"/>
                </a:lnTo>
                <a:lnTo>
                  <a:pt x="859940" y="1242312"/>
                </a:lnTo>
                <a:lnTo>
                  <a:pt x="507751" y="1323065"/>
                </a:lnTo>
                <a:lnTo>
                  <a:pt x="414629" y="1331212"/>
                </a:lnTo>
                <a:lnTo>
                  <a:pt x="342825" y="1346846"/>
                </a:lnTo>
                <a:close/>
              </a:path>
              <a:path w="2361565" h="1377315">
                <a:moveTo>
                  <a:pt x="231198" y="1356612"/>
                </a:moveTo>
                <a:lnTo>
                  <a:pt x="86037" y="1369312"/>
                </a:lnTo>
                <a:lnTo>
                  <a:pt x="0" y="1369312"/>
                </a:lnTo>
                <a:lnTo>
                  <a:pt x="0" y="1356612"/>
                </a:lnTo>
                <a:lnTo>
                  <a:pt x="231198" y="1356612"/>
                </a:lnTo>
                <a:close/>
              </a:path>
              <a:path w="2361565" h="1377315">
                <a:moveTo>
                  <a:pt x="472219" y="1331212"/>
                </a:moveTo>
                <a:lnTo>
                  <a:pt x="414629" y="1331212"/>
                </a:lnTo>
                <a:lnTo>
                  <a:pt x="507751" y="1323065"/>
                </a:lnTo>
                <a:lnTo>
                  <a:pt x="472219" y="1331212"/>
                </a:lnTo>
                <a:close/>
              </a:path>
              <a:path w="2361565" h="1377315">
                <a:moveTo>
                  <a:pt x="86037" y="1369312"/>
                </a:moveTo>
                <a:lnTo>
                  <a:pt x="0" y="1376839"/>
                </a:lnTo>
                <a:lnTo>
                  <a:pt x="0" y="1369312"/>
                </a:lnTo>
                <a:lnTo>
                  <a:pt x="86037" y="1369312"/>
                </a:lnTo>
                <a:close/>
              </a:path>
            </a:pathLst>
          </a:custGeom>
          <a:solidFill>
            <a:srgbClr val="90ED9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A3069A-A3E1-FAE2-62A8-E65ED68C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235C98-F11B-A7B0-4505-DAD59E446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92343"/>
            <a:ext cx="6444615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95" dirty="0"/>
              <a:t> </a:t>
            </a:r>
            <a:r>
              <a:rPr spc="-170" dirty="0"/>
              <a:t>is</a:t>
            </a:r>
            <a:r>
              <a:rPr spc="-390" dirty="0"/>
              <a:t> </a:t>
            </a:r>
            <a:r>
              <a:rPr dirty="0"/>
              <a:t>an</a:t>
            </a:r>
            <a:r>
              <a:rPr spc="-390" dirty="0"/>
              <a:t> </a:t>
            </a:r>
            <a:r>
              <a:rPr spc="-185" dirty="0"/>
              <a:t>Exception?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3A9B807-B308-E2E4-C74C-3D5003BD4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809" y="1366382"/>
            <a:ext cx="10542905" cy="14248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49580">
              <a:lnSpc>
                <a:spcPct val="137100"/>
              </a:lnSpc>
              <a:spcBef>
                <a:spcPts val="90"/>
              </a:spcBef>
            </a:pP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600"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exception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6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disrupts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sz="1600"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program.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6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4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sz="1600"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execution,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7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such</a:t>
            </a:r>
            <a:r>
              <a:rPr sz="1600" spc="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1600" spc="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invalid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sz="1600" spc="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1600" spc="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sz="16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failure.</a:t>
            </a:r>
            <a:endParaRPr lang="en-US" sz="16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Errors?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error signifies a situation that mostly happens due to the absence of system resources. The system crash and memory errors are an example of errors. It majorly occurs at runtime.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D58C1C-51F9-9B20-9C49-6C3976EACE13}"/>
              </a:ext>
            </a:extLst>
          </p:cNvPr>
          <p:cNvSpPr/>
          <p:nvPr/>
        </p:nvSpPr>
        <p:spPr>
          <a:xfrm>
            <a:off x="0" y="5143500"/>
            <a:ext cx="1783080" cy="1714500"/>
          </a:xfrm>
          <a:custGeom>
            <a:avLst/>
            <a:gdLst/>
            <a:ahLst/>
            <a:cxnLst/>
            <a:rect l="l" t="t" r="r" b="b"/>
            <a:pathLst>
              <a:path w="1783080" h="1714500">
                <a:moveTo>
                  <a:pt x="178308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48883" y="640"/>
                </a:lnTo>
                <a:lnTo>
                  <a:pt x="97451" y="2549"/>
                </a:lnTo>
                <a:lnTo>
                  <a:pt x="145688" y="5711"/>
                </a:lnTo>
                <a:lnTo>
                  <a:pt x="193576" y="10109"/>
                </a:lnTo>
                <a:lnTo>
                  <a:pt x="241097" y="15726"/>
                </a:lnTo>
                <a:lnTo>
                  <a:pt x="288234" y="22545"/>
                </a:lnTo>
                <a:lnTo>
                  <a:pt x="334970" y="30551"/>
                </a:lnTo>
                <a:lnTo>
                  <a:pt x="381288" y="39725"/>
                </a:lnTo>
                <a:lnTo>
                  <a:pt x="427170" y="50052"/>
                </a:lnTo>
                <a:lnTo>
                  <a:pt x="472598" y="61515"/>
                </a:lnTo>
                <a:lnTo>
                  <a:pt x="517556" y="74097"/>
                </a:lnTo>
                <a:lnTo>
                  <a:pt x="562026" y="87782"/>
                </a:lnTo>
                <a:lnTo>
                  <a:pt x="605991" y="102552"/>
                </a:lnTo>
                <a:lnTo>
                  <a:pt x="649434" y="118392"/>
                </a:lnTo>
                <a:lnTo>
                  <a:pt x="692336" y="135284"/>
                </a:lnTo>
                <a:lnTo>
                  <a:pt x="734681" y="153212"/>
                </a:lnTo>
                <a:lnTo>
                  <a:pt x="776452" y="172160"/>
                </a:lnTo>
                <a:lnTo>
                  <a:pt x="817631" y="192109"/>
                </a:lnTo>
                <a:lnTo>
                  <a:pt x="858200" y="213045"/>
                </a:lnTo>
                <a:lnTo>
                  <a:pt x="898144" y="234950"/>
                </a:lnTo>
                <a:lnTo>
                  <a:pt x="937443" y="257807"/>
                </a:lnTo>
                <a:lnTo>
                  <a:pt x="976081" y="281600"/>
                </a:lnTo>
                <a:lnTo>
                  <a:pt x="1014040" y="306312"/>
                </a:lnTo>
                <a:lnTo>
                  <a:pt x="1051303" y="331927"/>
                </a:lnTo>
                <a:lnTo>
                  <a:pt x="1087854" y="358427"/>
                </a:lnTo>
                <a:lnTo>
                  <a:pt x="1123673" y="385797"/>
                </a:lnTo>
                <a:lnTo>
                  <a:pt x="1158745" y="414019"/>
                </a:lnTo>
                <a:lnTo>
                  <a:pt x="1193052" y="443077"/>
                </a:lnTo>
                <a:lnTo>
                  <a:pt x="1226576" y="472954"/>
                </a:lnTo>
                <a:lnTo>
                  <a:pt x="1259300" y="503634"/>
                </a:lnTo>
                <a:lnTo>
                  <a:pt x="1291207" y="535099"/>
                </a:lnTo>
                <a:lnTo>
                  <a:pt x="1322279" y="567334"/>
                </a:lnTo>
                <a:lnTo>
                  <a:pt x="1352499" y="600321"/>
                </a:lnTo>
                <a:lnTo>
                  <a:pt x="1381850" y="634044"/>
                </a:lnTo>
                <a:lnTo>
                  <a:pt x="1410315" y="668486"/>
                </a:lnTo>
                <a:lnTo>
                  <a:pt x="1437875" y="703630"/>
                </a:lnTo>
                <a:lnTo>
                  <a:pt x="1464515" y="739461"/>
                </a:lnTo>
                <a:lnTo>
                  <a:pt x="1490215" y="775960"/>
                </a:lnTo>
                <a:lnTo>
                  <a:pt x="1514960" y="813112"/>
                </a:lnTo>
                <a:lnTo>
                  <a:pt x="1538732" y="850900"/>
                </a:lnTo>
                <a:lnTo>
                  <a:pt x="1561512" y="889306"/>
                </a:lnTo>
                <a:lnTo>
                  <a:pt x="1583285" y="928316"/>
                </a:lnTo>
                <a:lnTo>
                  <a:pt x="1604033" y="967911"/>
                </a:lnTo>
                <a:lnTo>
                  <a:pt x="1623738" y="1008075"/>
                </a:lnTo>
                <a:lnTo>
                  <a:pt x="1642383" y="1048791"/>
                </a:lnTo>
                <a:lnTo>
                  <a:pt x="1659951" y="1090044"/>
                </a:lnTo>
                <a:lnTo>
                  <a:pt x="1676425" y="1131815"/>
                </a:lnTo>
                <a:lnTo>
                  <a:pt x="1691786" y="1174089"/>
                </a:lnTo>
                <a:lnTo>
                  <a:pt x="1706018" y="1216849"/>
                </a:lnTo>
                <a:lnTo>
                  <a:pt x="1719103" y="1260078"/>
                </a:lnTo>
                <a:lnTo>
                  <a:pt x="1731025" y="1303759"/>
                </a:lnTo>
                <a:lnTo>
                  <a:pt x="1741765" y="1347876"/>
                </a:lnTo>
                <a:lnTo>
                  <a:pt x="1751306" y="1392412"/>
                </a:lnTo>
                <a:lnTo>
                  <a:pt x="1759632" y="1437351"/>
                </a:lnTo>
                <a:lnTo>
                  <a:pt x="1766724" y="1482675"/>
                </a:lnTo>
                <a:lnTo>
                  <a:pt x="1772566" y="1528368"/>
                </a:lnTo>
                <a:lnTo>
                  <a:pt x="1777140" y="1574414"/>
                </a:lnTo>
                <a:lnTo>
                  <a:pt x="1780428" y="1620796"/>
                </a:lnTo>
                <a:lnTo>
                  <a:pt x="1782414" y="1667496"/>
                </a:lnTo>
                <a:lnTo>
                  <a:pt x="1783080" y="1714500"/>
                </a:lnTo>
                <a:close/>
              </a:path>
            </a:pathLst>
          </a:custGeom>
          <a:solidFill>
            <a:srgbClr val="FFA50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47480DC-298C-2DE8-F378-C87CE9E2CB0F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D9593B-4D52-36B8-C1A9-7818F8104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355168"/>
              </p:ext>
            </p:extLst>
          </p:nvPr>
        </p:nvGraphicFramePr>
        <p:xfrm>
          <a:off x="762000" y="3124200"/>
          <a:ext cx="9525000" cy="274719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32581318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91239161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969735294"/>
                    </a:ext>
                  </a:extLst>
                </a:gridCol>
              </a:tblGrid>
              <a:tr h="2466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Basis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/>
                        <a:t>Exception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/>
                        <a:t>Error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extLst>
                  <a:ext uri="{0D108BD9-81ED-4DB2-BD59-A6C34878D82A}">
                    <a16:rowId xmlns:a16="http://schemas.microsoft.com/office/drawing/2014/main" val="1455532283"/>
                  </a:ext>
                </a:extLst>
              </a:tr>
              <a:tr h="4318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Nature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/>
                        <a:t>Caused by incorrect code or external factors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/>
                        <a:t>Caused by system failure or resource limitation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extLst>
                  <a:ext uri="{0D108BD9-81ED-4DB2-BD59-A6C34878D82A}">
                    <a16:rowId xmlns:a16="http://schemas.microsoft.com/office/drawing/2014/main" val="2263719610"/>
                  </a:ext>
                </a:extLst>
              </a:tr>
              <a:tr h="2466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Recoverable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Usually recoverable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/>
                        <a:t>Generally not recoverable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extLst>
                  <a:ext uri="{0D108BD9-81ED-4DB2-BD59-A6C34878D82A}">
                    <a16:rowId xmlns:a16="http://schemas.microsoft.com/office/drawing/2014/main" val="3840288409"/>
                  </a:ext>
                </a:extLst>
              </a:tr>
              <a:tr h="4318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/>
                        <a:t>Handling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/>
                        <a:t>Can be caught using try-catch blocks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/>
                        <a:t>Should not be handled (indicates serious issue)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extLst>
                  <a:ext uri="{0D108BD9-81ED-4DB2-BD59-A6C34878D82A}">
                    <a16:rowId xmlns:a16="http://schemas.microsoft.com/office/drawing/2014/main" val="3250409223"/>
                  </a:ext>
                </a:extLst>
              </a:tr>
              <a:tr h="6170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/>
                        <a:t>Examples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 err="1"/>
                        <a:t>NullPointerException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IOException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ArithmeticException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 err="1"/>
                        <a:t>OutOfMemoryError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StackOverflowError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662" marR="55662" marT="27831" marB="27831" anchor="ctr"/>
                </a:tc>
                <a:extLst>
                  <a:ext uri="{0D108BD9-81ED-4DB2-BD59-A6C34878D82A}">
                    <a16:rowId xmlns:a16="http://schemas.microsoft.com/office/drawing/2014/main" val="374410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88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D6C776-B388-BC20-498A-F90E60E3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1038BD4-289A-13F2-A444-A8723B531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518953"/>
            <a:ext cx="8458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Types of Exceptions in Java</a:t>
            </a:r>
            <a:endParaRPr spc="-18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6736827-175A-A4D4-2781-C1DE03A019C0}"/>
              </a:ext>
            </a:extLst>
          </p:cNvPr>
          <p:cNvSpPr/>
          <p:nvPr/>
        </p:nvSpPr>
        <p:spPr>
          <a:xfrm>
            <a:off x="0" y="5143500"/>
            <a:ext cx="1783080" cy="1714500"/>
          </a:xfrm>
          <a:custGeom>
            <a:avLst/>
            <a:gdLst/>
            <a:ahLst/>
            <a:cxnLst/>
            <a:rect l="l" t="t" r="r" b="b"/>
            <a:pathLst>
              <a:path w="1783080" h="1714500">
                <a:moveTo>
                  <a:pt x="178308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48883" y="640"/>
                </a:lnTo>
                <a:lnTo>
                  <a:pt x="97451" y="2549"/>
                </a:lnTo>
                <a:lnTo>
                  <a:pt x="145688" y="5711"/>
                </a:lnTo>
                <a:lnTo>
                  <a:pt x="193576" y="10109"/>
                </a:lnTo>
                <a:lnTo>
                  <a:pt x="241097" y="15726"/>
                </a:lnTo>
                <a:lnTo>
                  <a:pt x="288234" y="22545"/>
                </a:lnTo>
                <a:lnTo>
                  <a:pt x="334970" y="30551"/>
                </a:lnTo>
                <a:lnTo>
                  <a:pt x="381288" y="39725"/>
                </a:lnTo>
                <a:lnTo>
                  <a:pt x="427170" y="50052"/>
                </a:lnTo>
                <a:lnTo>
                  <a:pt x="472598" y="61515"/>
                </a:lnTo>
                <a:lnTo>
                  <a:pt x="517556" y="74097"/>
                </a:lnTo>
                <a:lnTo>
                  <a:pt x="562026" y="87782"/>
                </a:lnTo>
                <a:lnTo>
                  <a:pt x="605991" y="102552"/>
                </a:lnTo>
                <a:lnTo>
                  <a:pt x="649434" y="118392"/>
                </a:lnTo>
                <a:lnTo>
                  <a:pt x="692336" y="135284"/>
                </a:lnTo>
                <a:lnTo>
                  <a:pt x="734681" y="153212"/>
                </a:lnTo>
                <a:lnTo>
                  <a:pt x="776452" y="172160"/>
                </a:lnTo>
                <a:lnTo>
                  <a:pt x="817631" y="192109"/>
                </a:lnTo>
                <a:lnTo>
                  <a:pt x="858200" y="213045"/>
                </a:lnTo>
                <a:lnTo>
                  <a:pt x="898144" y="234950"/>
                </a:lnTo>
                <a:lnTo>
                  <a:pt x="937443" y="257807"/>
                </a:lnTo>
                <a:lnTo>
                  <a:pt x="976081" y="281600"/>
                </a:lnTo>
                <a:lnTo>
                  <a:pt x="1014040" y="306312"/>
                </a:lnTo>
                <a:lnTo>
                  <a:pt x="1051303" y="331927"/>
                </a:lnTo>
                <a:lnTo>
                  <a:pt x="1087854" y="358427"/>
                </a:lnTo>
                <a:lnTo>
                  <a:pt x="1123673" y="385797"/>
                </a:lnTo>
                <a:lnTo>
                  <a:pt x="1158745" y="414019"/>
                </a:lnTo>
                <a:lnTo>
                  <a:pt x="1193052" y="443077"/>
                </a:lnTo>
                <a:lnTo>
                  <a:pt x="1226576" y="472954"/>
                </a:lnTo>
                <a:lnTo>
                  <a:pt x="1259300" y="503634"/>
                </a:lnTo>
                <a:lnTo>
                  <a:pt x="1291207" y="535099"/>
                </a:lnTo>
                <a:lnTo>
                  <a:pt x="1322279" y="567334"/>
                </a:lnTo>
                <a:lnTo>
                  <a:pt x="1352499" y="600321"/>
                </a:lnTo>
                <a:lnTo>
                  <a:pt x="1381850" y="634044"/>
                </a:lnTo>
                <a:lnTo>
                  <a:pt x="1410315" y="668486"/>
                </a:lnTo>
                <a:lnTo>
                  <a:pt x="1437875" y="703630"/>
                </a:lnTo>
                <a:lnTo>
                  <a:pt x="1464515" y="739461"/>
                </a:lnTo>
                <a:lnTo>
                  <a:pt x="1490215" y="775960"/>
                </a:lnTo>
                <a:lnTo>
                  <a:pt x="1514960" y="813112"/>
                </a:lnTo>
                <a:lnTo>
                  <a:pt x="1538732" y="850900"/>
                </a:lnTo>
                <a:lnTo>
                  <a:pt x="1561512" y="889306"/>
                </a:lnTo>
                <a:lnTo>
                  <a:pt x="1583285" y="928316"/>
                </a:lnTo>
                <a:lnTo>
                  <a:pt x="1604033" y="967911"/>
                </a:lnTo>
                <a:lnTo>
                  <a:pt x="1623738" y="1008075"/>
                </a:lnTo>
                <a:lnTo>
                  <a:pt x="1642383" y="1048791"/>
                </a:lnTo>
                <a:lnTo>
                  <a:pt x="1659951" y="1090044"/>
                </a:lnTo>
                <a:lnTo>
                  <a:pt x="1676425" y="1131815"/>
                </a:lnTo>
                <a:lnTo>
                  <a:pt x="1691786" y="1174089"/>
                </a:lnTo>
                <a:lnTo>
                  <a:pt x="1706018" y="1216849"/>
                </a:lnTo>
                <a:lnTo>
                  <a:pt x="1719103" y="1260078"/>
                </a:lnTo>
                <a:lnTo>
                  <a:pt x="1731025" y="1303759"/>
                </a:lnTo>
                <a:lnTo>
                  <a:pt x="1741765" y="1347876"/>
                </a:lnTo>
                <a:lnTo>
                  <a:pt x="1751306" y="1392412"/>
                </a:lnTo>
                <a:lnTo>
                  <a:pt x="1759632" y="1437351"/>
                </a:lnTo>
                <a:lnTo>
                  <a:pt x="1766724" y="1482675"/>
                </a:lnTo>
                <a:lnTo>
                  <a:pt x="1772566" y="1528368"/>
                </a:lnTo>
                <a:lnTo>
                  <a:pt x="1777140" y="1574414"/>
                </a:lnTo>
                <a:lnTo>
                  <a:pt x="1780428" y="1620796"/>
                </a:lnTo>
                <a:lnTo>
                  <a:pt x="1782414" y="1667496"/>
                </a:lnTo>
                <a:lnTo>
                  <a:pt x="1783080" y="1714500"/>
                </a:lnTo>
                <a:close/>
              </a:path>
            </a:pathLst>
          </a:custGeom>
          <a:solidFill>
            <a:srgbClr val="FFA50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DC06ACE-E74D-4AC1-E04E-0D0EBB554A66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DAD25B-DE3C-54DF-118C-B5FE0ACE2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95400"/>
            <a:ext cx="10542905" cy="53501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Checked Exceptions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➡ Description: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Checked by the compiler at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compile time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not handled properly, the program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won’t compile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conditions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are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 the program’s control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such as file handling, network communication, or database access.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be handled using a try-catch block or declared using the throws keyword.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🧮 Examples: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FileNotFoundException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ClassNotFoundException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75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8F3905-EB10-948B-543A-37AB0E4E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68C2712-A14B-18B6-927A-844EAF74D4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518953"/>
            <a:ext cx="8458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Types of Exceptions in Java</a:t>
            </a:r>
            <a:endParaRPr spc="-18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F572C49-A345-0DAB-5373-CE2E9DD68B9B}"/>
              </a:ext>
            </a:extLst>
          </p:cNvPr>
          <p:cNvSpPr/>
          <p:nvPr/>
        </p:nvSpPr>
        <p:spPr>
          <a:xfrm>
            <a:off x="0" y="5143500"/>
            <a:ext cx="1783080" cy="1714500"/>
          </a:xfrm>
          <a:custGeom>
            <a:avLst/>
            <a:gdLst/>
            <a:ahLst/>
            <a:cxnLst/>
            <a:rect l="l" t="t" r="r" b="b"/>
            <a:pathLst>
              <a:path w="1783080" h="1714500">
                <a:moveTo>
                  <a:pt x="178308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48883" y="640"/>
                </a:lnTo>
                <a:lnTo>
                  <a:pt x="97451" y="2549"/>
                </a:lnTo>
                <a:lnTo>
                  <a:pt x="145688" y="5711"/>
                </a:lnTo>
                <a:lnTo>
                  <a:pt x="193576" y="10109"/>
                </a:lnTo>
                <a:lnTo>
                  <a:pt x="241097" y="15726"/>
                </a:lnTo>
                <a:lnTo>
                  <a:pt x="288234" y="22545"/>
                </a:lnTo>
                <a:lnTo>
                  <a:pt x="334970" y="30551"/>
                </a:lnTo>
                <a:lnTo>
                  <a:pt x="381288" y="39725"/>
                </a:lnTo>
                <a:lnTo>
                  <a:pt x="427170" y="50052"/>
                </a:lnTo>
                <a:lnTo>
                  <a:pt x="472598" y="61515"/>
                </a:lnTo>
                <a:lnTo>
                  <a:pt x="517556" y="74097"/>
                </a:lnTo>
                <a:lnTo>
                  <a:pt x="562026" y="87782"/>
                </a:lnTo>
                <a:lnTo>
                  <a:pt x="605991" y="102552"/>
                </a:lnTo>
                <a:lnTo>
                  <a:pt x="649434" y="118392"/>
                </a:lnTo>
                <a:lnTo>
                  <a:pt x="692336" y="135284"/>
                </a:lnTo>
                <a:lnTo>
                  <a:pt x="734681" y="153212"/>
                </a:lnTo>
                <a:lnTo>
                  <a:pt x="776452" y="172160"/>
                </a:lnTo>
                <a:lnTo>
                  <a:pt x="817631" y="192109"/>
                </a:lnTo>
                <a:lnTo>
                  <a:pt x="858200" y="213045"/>
                </a:lnTo>
                <a:lnTo>
                  <a:pt x="898144" y="234950"/>
                </a:lnTo>
                <a:lnTo>
                  <a:pt x="937443" y="257807"/>
                </a:lnTo>
                <a:lnTo>
                  <a:pt x="976081" y="281600"/>
                </a:lnTo>
                <a:lnTo>
                  <a:pt x="1014040" y="306312"/>
                </a:lnTo>
                <a:lnTo>
                  <a:pt x="1051303" y="331927"/>
                </a:lnTo>
                <a:lnTo>
                  <a:pt x="1087854" y="358427"/>
                </a:lnTo>
                <a:lnTo>
                  <a:pt x="1123673" y="385797"/>
                </a:lnTo>
                <a:lnTo>
                  <a:pt x="1158745" y="414019"/>
                </a:lnTo>
                <a:lnTo>
                  <a:pt x="1193052" y="443077"/>
                </a:lnTo>
                <a:lnTo>
                  <a:pt x="1226576" y="472954"/>
                </a:lnTo>
                <a:lnTo>
                  <a:pt x="1259300" y="503634"/>
                </a:lnTo>
                <a:lnTo>
                  <a:pt x="1291207" y="535099"/>
                </a:lnTo>
                <a:lnTo>
                  <a:pt x="1322279" y="567334"/>
                </a:lnTo>
                <a:lnTo>
                  <a:pt x="1352499" y="600321"/>
                </a:lnTo>
                <a:lnTo>
                  <a:pt x="1381850" y="634044"/>
                </a:lnTo>
                <a:lnTo>
                  <a:pt x="1410315" y="668486"/>
                </a:lnTo>
                <a:lnTo>
                  <a:pt x="1437875" y="703630"/>
                </a:lnTo>
                <a:lnTo>
                  <a:pt x="1464515" y="739461"/>
                </a:lnTo>
                <a:lnTo>
                  <a:pt x="1490215" y="775960"/>
                </a:lnTo>
                <a:lnTo>
                  <a:pt x="1514960" y="813112"/>
                </a:lnTo>
                <a:lnTo>
                  <a:pt x="1538732" y="850900"/>
                </a:lnTo>
                <a:lnTo>
                  <a:pt x="1561512" y="889306"/>
                </a:lnTo>
                <a:lnTo>
                  <a:pt x="1583285" y="928316"/>
                </a:lnTo>
                <a:lnTo>
                  <a:pt x="1604033" y="967911"/>
                </a:lnTo>
                <a:lnTo>
                  <a:pt x="1623738" y="1008075"/>
                </a:lnTo>
                <a:lnTo>
                  <a:pt x="1642383" y="1048791"/>
                </a:lnTo>
                <a:lnTo>
                  <a:pt x="1659951" y="1090044"/>
                </a:lnTo>
                <a:lnTo>
                  <a:pt x="1676425" y="1131815"/>
                </a:lnTo>
                <a:lnTo>
                  <a:pt x="1691786" y="1174089"/>
                </a:lnTo>
                <a:lnTo>
                  <a:pt x="1706018" y="1216849"/>
                </a:lnTo>
                <a:lnTo>
                  <a:pt x="1719103" y="1260078"/>
                </a:lnTo>
                <a:lnTo>
                  <a:pt x="1731025" y="1303759"/>
                </a:lnTo>
                <a:lnTo>
                  <a:pt x="1741765" y="1347876"/>
                </a:lnTo>
                <a:lnTo>
                  <a:pt x="1751306" y="1392412"/>
                </a:lnTo>
                <a:lnTo>
                  <a:pt x="1759632" y="1437351"/>
                </a:lnTo>
                <a:lnTo>
                  <a:pt x="1766724" y="1482675"/>
                </a:lnTo>
                <a:lnTo>
                  <a:pt x="1772566" y="1528368"/>
                </a:lnTo>
                <a:lnTo>
                  <a:pt x="1777140" y="1574414"/>
                </a:lnTo>
                <a:lnTo>
                  <a:pt x="1780428" y="1620796"/>
                </a:lnTo>
                <a:lnTo>
                  <a:pt x="1782414" y="1667496"/>
                </a:lnTo>
                <a:lnTo>
                  <a:pt x="1783080" y="1714500"/>
                </a:lnTo>
                <a:close/>
              </a:path>
            </a:pathLst>
          </a:custGeom>
          <a:solidFill>
            <a:srgbClr val="FFA50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D7EF3C5-4C47-ECB7-980E-F915AD4C25FA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9FA230-6B39-0F07-3DF4-93D9AF3E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95400"/>
            <a:ext cx="10542905" cy="49346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Unchecked Exceptions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➡ Description: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called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Runtime Exceptions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checked by the compiler during compile time.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 because of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mistakes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such as logical or arithmetic errors.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program compiles successfully but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fails during execution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handled using try-catch, but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mandatory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🧮 Examples: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NullPointerException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ArrayIndexOutOfBoundsException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NumberFormatException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23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061DAA-A615-6204-3760-CAB5DD9D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AC03541-9537-8B8A-24B3-9AD85DCF7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518953"/>
            <a:ext cx="8458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85" dirty="0"/>
              <a:t>Exception Hierarchy</a:t>
            </a:r>
            <a:endParaRPr spc="-18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59D1C52-D862-56A9-83C9-74B56F439A31}"/>
              </a:ext>
            </a:extLst>
          </p:cNvPr>
          <p:cNvSpPr/>
          <p:nvPr/>
        </p:nvSpPr>
        <p:spPr>
          <a:xfrm>
            <a:off x="0" y="5143500"/>
            <a:ext cx="1783080" cy="1714500"/>
          </a:xfrm>
          <a:custGeom>
            <a:avLst/>
            <a:gdLst/>
            <a:ahLst/>
            <a:cxnLst/>
            <a:rect l="l" t="t" r="r" b="b"/>
            <a:pathLst>
              <a:path w="1783080" h="1714500">
                <a:moveTo>
                  <a:pt x="178308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48883" y="640"/>
                </a:lnTo>
                <a:lnTo>
                  <a:pt x="97451" y="2549"/>
                </a:lnTo>
                <a:lnTo>
                  <a:pt x="145688" y="5711"/>
                </a:lnTo>
                <a:lnTo>
                  <a:pt x="193576" y="10109"/>
                </a:lnTo>
                <a:lnTo>
                  <a:pt x="241097" y="15726"/>
                </a:lnTo>
                <a:lnTo>
                  <a:pt x="288234" y="22545"/>
                </a:lnTo>
                <a:lnTo>
                  <a:pt x="334970" y="30551"/>
                </a:lnTo>
                <a:lnTo>
                  <a:pt x="381288" y="39725"/>
                </a:lnTo>
                <a:lnTo>
                  <a:pt x="427170" y="50052"/>
                </a:lnTo>
                <a:lnTo>
                  <a:pt x="472598" y="61515"/>
                </a:lnTo>
                <a:lnTo>
                  <a:pt x="517556" y="74097"/>
                </a:lnTo>
                <a:lnTo>
                  <a:pt x="562026" y="87782"/>
                </a:lnTo>
                <a:lnTo>
                  <a:pt x="605991" y="102552"/>
                </a:lnTo>
                <a:lnTo>
                  <a:pt x="649434" y="118392"/>
                </a:lnTo>
                <a:lnTo>
                  <a:pt x="692336" y="135284"/>
                </a:lnTo>
                <a:lnTo>
                  <a:pt x="734681" y="153212"/>
                </a:lnTo>
                <a:lnTo>
                  <a:pt x="776452" y="172160"/>
                </a:lnTo>
                <a:lnTo>
                  <a:pt x="817631" y="192109"/>
                </a:lnTo>
                <a:lnTo>
                  <a:pt x="858200" y="213045"/>
                </a:lnTo>
                <a:lnTo>
                  <a:pt x="898144" y="234950"/>
                </a:lnTo>
                <a:lnTo>
                  <a:pt x="937443" y="257807"/>
                </a:lnTo>
                <a:lnTo>
                  <a:pt x="976081" y="281600"/>
                </a:lnTo>
                <a:lnTo>
                  <a:pt x="1014040" y="306312"/>
                </a:lnTo>
                <a:lnTo>
                  <a:pt x="1051303" y="331927"/>
                </a:lnTo>
                <a:lnTo>
                  <a:pt x="1087854" y="358427"/>
                </a:lnTo>
                <a:lnTo>
                  <a:pt x="1123673" y="385797"/>
                </a:lnTo>
                <a:lnTo>
                  <a:pt x="1158745" y="414019"/>
                </a:lnTo>
                <a:lnTo>
                  <a:pt x="1193052" y="443077"/>
                </a:lnTo>
                <a:lnTo>
                  <a:pt x="1226576" y="472954"/>
                </a:lnTo>
                <a:lnTo>
                  <a:pt x="1259300" y="503634"/>
                </a:lnTo>
                <a:lnTo>
                  <a:pt x="1291207" y="535099"/>
                </a:lnTo>
                <a:lnTo>
                  <a:pt x="1322279" y="567334"/>
                </a:lnTo>
                <a:lnTo>
                  <a:pt x="1352499" y="600321"/>
                </a:lnTo>
                <a:lnTo>
                  <a:pt x="1381850" y="634044"/>
                </a:lnTo>
                <a:lnTo>
                  <a:pt x="1410315" y="668486"/>
                </a:lnTo>
                <a:lnTo>
                  <a:pt x="1437875" y="703630"/>
                </a:lnTo>
                <a:lnTo>
                  <a:pt x="1464515" y="739461"/>
                </a:lnTo>
                <a:lnTo>
                  <a:pt x="1490215" y="775960"/>
                </a:lnTo>
                <a:lnTo>
                  <a:pt x="1514960" y="813112"/>
                </a:lnTo>
                <a:lnTo>
                  <a:pt x="1538732" y="850900"/>
                </a:lnTo>
                <a:lnTo>
                  <a:pt x="1561512" y="889306"/>
                </a:lnTo>
                <a:lnTo>
                  <a:pt x="1583285" y="928316"/>
                </a:lnTo>
                <a:lnTo>
                  <a:pt x="1604033" y="967911"/>
                </a:lnTo>
                <a:lnTo>
                  <a:pt x="1623738" y="1008075"/>
                </a:lnTo>
                <a:lnTo>
                  <a:pt x="1642383" y="1048791"/>
                </a:lnTo>
                <a:lnTo>
                  <a:pt x="1659951" y="1090044"/>
                </a:lnTo>
                <a:lnTo>
                  <a:pt x="1676425" y="1131815"/>
                </a:lnTo>
                <a:lnTo>
                  <a:pt x="1691786" y="1174089"/>
                </a:lnTo>
                <a:lnTo>
                  <a:pt x="1706018" y="1216849"/>
                </a:lnTo>
                <a:lnTo>
                  <a:pt x="1719103" y="1260078"/>
                </a:lnTo>
                <a:lnTo>
                  <a:pt x="1731025" y="1303759"/>
                </a:lnTo>
                <a:lnTo>
                  <a:pt x="1741765" y="1347876"/>
                </a:lnTo>
                <a:lnTo>
                  <a:pt x="1751306" y="1392412"/>
                </a:lnTo>
                <a:lnTo>
                  <a:pt x="1759632" y="1437351"/>
                </a:lnTo>
                <a:lnTo>
                  <a:pt x="1766724" y="1482675"/>
                </a:lnTo>
                <a:lnTo>
                  <a:pt x="1772566" y="1528368"/>
                </a:lnTo>
                <a:lnTo>
                  <a:pt x="1777140" y="1574414"/>
                </a:lnTo>
                <a:lnTo>
                  <a:pt x="1780428" y="1620796"/>
                </a:lnTo>
                <a:lnTo>
                  <a:pt x="1782414" y="1667496"/>
                </a:lnTo>
                <a:lnTo>
                  <a:pt x="1783080" y="1714500"/>
                </a:lnTo>
                <a:close/>
              </a:path>
            </a:pathLst>
          </a:custGeom>
          <a:solidFill>
            <a:srgbClr val="FFA50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075122-847E-8490-7BF4-6DFBD605E0BF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A41CA-D307-4D0F-04AA-16E591843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CCF7664C-6BE8-314B-60C5-E2583A693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71600"/>
            <a:ext cx="11049000" cy="506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838200"/>
            <a:ext cx="6444615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85" dirty="0"/>
              <a:t>Exception Hierarchy</a:t>
            </a:r>
            <a:endParaRPr spc="-80" dirty="0"/>
          </a:p>
        </p:txBody>
      </p:sp>
      <p:sp>
        <p:nvSpPr>
          <p:cNvPr id="4" name="object 4"/>
          <p:cNvSpPr txBox="1"/>
          <p:nvPr/>
        </p:nvSpPr>
        <p:spPr>
          <a:xfrm>
            <a:off x="404843" y="1748913"/>
            <a:ext cx="9262110" cy="2194832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715"/>
              </a:spcBef>
            </a:pPr>
            <a:r>
              <a:rPr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Throwable:</a:t>
            </a:r>
            <a:r>
              <a:rPr b="1" spc="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superclass</a:t>
            </a:r>
            <a:r>
              <a:rPr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pc="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r>
              <a:rPr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exceptions</a:t>
            </a:r>
            <a:r>
              <a:rPr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pc="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Java.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50000"/>
              </a:lnSpc>
              <a:spcBef>
                <a:spcPts val="625"/>
              </a:spcBef>
            </a:pPr>
            <a:r>
              <a:rPr b="1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Error:</a:t>
            </a:r>
            <a:r>
              <a:rPr b="1"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</a:t>
            </a:r>
            <a:r>
              <a:rPr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serious</a:t>
            </a:r>
            <a:r>
              <a:rPr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r>
              <a:rPr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catch.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50000"/>
              </a:lnSpc>
            </a:pPr>
            <a:r>
              <a:rPr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Exception:</a:t>
            </a:r>
            <a:r>
              <a:rPr b="1"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9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7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reasonable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might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8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catch.</a:t>
            </a:r>
            <a:r>
              <a:rPr spc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b="1" spc="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RuntimeException:</a:t>
            </a:r>
            <a:r>
              <a:rPr b="1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subclass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Exception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7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unchecked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bugs.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5143500"/>
            <a:ext cx="1783080" cy="1714500"/>
          </a:xfrm>
          <a:custGeom>
            <a:avLst/>
            <a:gdLst/>
            <a:ahLst/>
            <a:cxnLst/>
            <a:rect l="l" t="t" r="r" b="b"/>
            <a:pathLst>
              <a:path w="1783080" h="1714500">
                <a:moveTo>
                  <a:pt x="178308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48883" y="640"/>
                </a:lnTo>
                <a:lnTo>
                  <a:pt x="97451" y="2549"/>
                </a:lnTo>
                <a:lnTo>
                  <a:pt x="145688" y="5711"/>
                </a:lnTo>
                <a:lnTo>
                  <a:pt x="193576" y="10109"/>
                </a:lnTo>
                <a:lnTo>
                  <a:pt x="241097" y="15726"/>
                </a:lnTo>
                <a:lnTo>
                  <a:pt x="288234" y="22545"/>
                </a:lnTo>
                <a:lnTo>
                  <a:pt x="334970" y="30551"/>
                </a:lnTo>
                <a:lnTo>
                  <a:pt x="381288" y="39725"/>
                </a:lnTo>
                <a:lnTo>
                  <a:pt x="427170" y="50052"/>
                </a:lnTo>
                <a:lnTo>
                  <a:pt x="472598" y="61515"/>
                </a:lnTo>
                <a:lnTo>
                  <a:pt x="517556" y="74097"/>
                </a:lnTo>
                <a:lnTo>
                  <a:pt x="562026" y="87782"/>
                </a:lnTo>
                <a:lnTo>
                  <a:pt x="605991" y="102552"/>
                </a:lnTo>
                <a:lnTo>
                  <a:pt x="649434" y="118392"/>
                </a:lnTo>
                <a:lnTo>
                  <a:pt x="692336" y="135284"/>
                </a:lnTo>
                <a:lnTo>
                  <a:pt x="734681" y="153212"/>
                </a:lnTo>
                <a:lnTo>
                  <a:pt x="776452" y="172160"/>
                </a:lnTo>
                <a:lnTo>
                  <a:pt x="817631" y="192109"/>
                </a:lnTo>
                <a:lnTo>
                  <a:pt x="858200" y="213045"/>
                </a:lnTo>
                <a:lnTo>
                  <a:pt x="898144" y="234950"/>
                </a:lnTo>
                <a:lnTo>
                  <a:pt x="937443" y="257807"/>
                </a:lnTo>
                <a:lnTo>
                  <a:pt x="976081" y="281600"/>
                </a:lnTo>
                <a:lnTo>
                  <a:pt x="1014040" y="306312"/>
                </a:lnTo>
                <a:lnTo>
                  <a:pt x="1051303" y="331927"/>
                </a:lnTo>
                <a:lnTo>
                  <a:pt x="1087854" y="358427"/>
                </a:lnTo>
                <a:lnTo>
                  <a:pt x="1123673" y="385797"/>
                </a:lnTo>
                <a:lnTo>
                  <a:pt x="1158745" y="414019"/>
                </a:lnTo>
                <a:lnTo>
                  <a:pt x="1193052" y="443077"/>
                </a:lnTo>
                <a:lnTo>
                  <a:pt x="1226576" y="472954"/>
                </a:lnTo>
                <a:lnTo>
                  <a:pt x="1259300" y="503634"/>
                </a:lnTo>
                <a:lnTo>
                  <a:pt x="1291207" y="535099"/>
                </a:lnTo>
                <a:lnTo>
                  <a:pt x="1322279" y="567334"/>
                </a:lnTo>
                <a:lnTo>
                  <a:pt x="1352499" y="600321"/>
                </a:lnTo>
                <a:lnTo>
                  <a:pt x="1381850" y="634044"/>
                </a:lnTo>
                <a:lnTo>
                  <a:pt x="1410315" y="668486"/>
                </a:lnTo>
                <a:lnTo>
                  <a:pt x="1437875" y="703630"/>
                </a:lnTo>
                <a:lnTo>
                  <a:pt x="1464515" y="739461"/>
                </a:lnTo>
                <a:lnTo>
                  <a:pt x="1490215" y="775960"/>
                </a:lnTo>
                <a:lnTo>
                  <a:pt x="1514960" y="813112"/>
                </a:lnTo>
                <a:lnTo>
                  <a:pt x="1538732" y="850900"/>
                </a:lnTo>
                <a:lnTo>
                  <a:pt x="1561512" y="889306"/>
                </a:lnTo>
                <a:lnTo>
                  <a:pt x="1583285" y="928316"/>
                </a:lnTo>
                <a:lnTo>
                  <a:pt x="1604033" y="967911"/>
                </a:lnTo>
                <a:lnTo>
                  <a:pt x="1623738" y="1008075"/>
                </a:lnTo>
                <a:lnTo>
                  <a:pt x="1642383" y="1048791"/>
                </a:lnTo>
                <a:lnTo>
                  <a:pt x="1659951" y="1090044"/>
                </a:lnTo>
                <a:lnTo>
                  <a:pt x="1676425" y="1131815"/>
                </a:lnTo>
                <a:lnTo>
                  <a:pt x="1691786" y="1174089"/>
                </a:lnTo>
                <a:lnTo>
                  <a:pt x="1706018" y="1216849"/>
                </a:lnTo>
                <a:lnTo>
                  <a:pt x="1719103" y="1260078"/>
                </a:lnTo>
                <a:lnTo>
                  <a:pt x="1731025" y="1303759"/>
                </a:lnTo>
                <a:lnTo>
                  <a:pt x="1741765" y="1347876"/>
                </a:lnTo>
                <a:lnTo>
                  <a:pt x="1751306" y="1392412"/>
                </a:lnTo>
                <a:lnTo>
                  <a:pt x="1759632" y="1437351"/>
                </a:lnTo>
                <a:lnTo>
                  <a:pt x="1766724" y="1482675"/>
                </a:lnTo>
                <a:lnTo>
                  <a:pt x="1772566" y="1528368"/>
                </a:lnTo>
                <a:lnTo>
                  <a:pt x="1777140" y="1574414"/>
                </a:lnTo>
                <a:lnTo>
                  <a:pt x="1780428" y="1620796"/>
                </a:lnTo>
                <a:lnTo>
                  <a:pt x="1782414" y="1667496"/>
                </a:lnTo>
                <a:lnTo>
                  <a:pt x="1783080" y="1714500"/>
                </a:lnTo>
                <a:close/>
              </a:path>
            </a:pathLst>
          </a:custGeom>
          <a:solidFill>
            <a:srgbClr val="FFA50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792343"/>
            <a:ext cx="8610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What is Exception Handling?</a:t>
            </a:r>
            <a:endParaRPr spc="-185" dirty="0"/>
          </a:p>
        </p:txBody>
      </p:sp>
      <p:sp>
        <p:nvSpPr>
          <p:cNvPr id="6" name="object 6"/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9792184-5E76-152C-68E2-00D1C8A34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852999"/>
            <a:ext cx="94005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 is a mechanism in Java to handle runtime errors so that the normal flow of the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can be maintained.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detect and respond to unexpected events (like division by zero, invalid input, or file not found) gracefully.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845D76-413F-1ECC-2988-AF0A966B35DD}"/>
              </a:ext>
            </a:extLst>
          </p:cNvPr>
          <p:cNvSpPr txBox="1"/>
          <p:nvPr/>
        </p:nvSpPr>
        <p:spPr>
          <a:xfrm>
            <a:off x="186812" y="4038600"/>
            <a:ext cx="76617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 of Exception Handling</a:t>
            </a:r>
          </a:p>
          <a:p>
            <a:pPr>
              <a:buNone/>
            </a:pPr>
            <a:r>
              <a:rPr lang="en-US" dirty="0"/>
              <a:t>✅ Separates error-handling code from regular logic</a:t>
            </a:r>
            <a:br>
              <a:rPr lang="en-US" dirty="0"/>
            </a:br>
            <a:r>
              <a:rPr lang="en-US" dirty="0"/>
              <a:t>✅ Improves program reliability and stability</a:t>
            </a:r>
            <a:br>
              <a:rPr lang="en-US" dirty="0"/>
            </a:br>
            <a:r>
              <a:rPr lang="en-US" dirty="0"/>
              <a:t>✅ Simplifies debugging and maintenance</a:t>
            </a:r>
            <a:br>
              <a:rPr lang="en-US" dirty="0"/>
            </a:br>
            <a:r>
              <a:rPr lang="en-US" dirty="0"/>
              <a:t>✅ Allows the program to continue execution after handling an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609600"/>
            <a:ext cx="6444615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Call</a:t>
            </a:r>
            <a:r>
              <a:rPr spc="-395" dirty="0"/>
              <a:t> </a:t>
            </a:r>
            <a:r>
              <a:rPr spc="-190" dirty="0"/>
              <a:t>Stack</a:t>
            </a:r>
            <a:r>
              <a:rPr spc="-390" dirty="0"/>
              <a:t> </a:t>
            </a:r>
            <a:r>
              <a:rPr dirty="0"/>
              <a:t>and</a:t>
            </a:r>
            <a:r>
              <a:rPr spc="-390" dirty="0"/>
              <a:t> </a:t>
            </a:r>
            <a:r>
              <a:rPr spc="-55" dirty="0"/>
              <a:t>Propagation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398316"/>
            <a:ext cx="10363200" cy="203068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r>
              <a:rPr lang="en-US" b="1" dirty="0"/>
              <a:t>What is a Call Stack?</a:t>
            </a:r>
          </a:p>
          <a:p>
            <a:r>
              <a:rPr lang="en-US" dirty="0"/>
              <a:t>The </a:t>
            </a:r>
            <a:r>
              <a:rPr lang="en-US" b="1" dirty="0"/>
              <a:t>call stack</a:t>
            </a:r>
            <a:r>
              <a:rPr lang="en-US" dirty="0"/>
              <a:t> in Java is a </a:t>
            </a:r>
            <a:r>
              <a:rPr lang="en-US" b="1" dirty="0"/>
              <a:t>runtime structure</a:t>
            </a:r>
            <a:r>
              <a:rPr lang="en-US" dirty="0"/>
              <a:t> that stores information about </a:t>
            </a:r>
            <a:r>
              <a:rPr lang="en-US" b="1" dirty="0"/>
              <a:t>method calls</a:t>
            </a:r>
            <a:r>
              <a:rPr lang="en-US" dirty="0"/>
              <a:t>.</a:t>
            </a:r>
          </a:p>
          <a:p>
            <a:r>
              <a:rPr lang="en-US" dirty="0"/>
              <a:t>It uses the </a:t>
            </a:r>
            <a:r>
              <a:rPr lang="en-US" b="1" dirty="0"/>
              <a:t>LIFO (Last In, First Out)</a:t>
            </a:r>
            <a:r>
              <a:rPr lang="en-US" dirty="0"/>
              <a:t> principle.</a:t>
            </a:r>
          </a:p>
          <a:p>
            <a:r>
              <a:rPr lang="en-US" dirty="0"/>
              <a:t>Each active method call creates a </a:t>
            </a:r>
            <a:r>
              <a:rPr lang="en-US" b="1" dirty="0"/>
              <a:t>stack frame</a:t>
            </a:r>
            <a:r>
              <a:rPr lang="en-US" dirty="0"/>
              <a:t> containing: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Method parameters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Return address</a:t>
            </a:r>
          </a:p>
        </p:txBody>
      </p:sp>
      <p:sp>
        <p:nvSpPr>
          <p:cNvPr id="6" name="object 6"/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48633-9EE6-BE28-F278-4AF4A9E00177}"/>
              </a:ext>
            </a:extLst>
          </p:cNvPr>
          <p:cNvSpPr txBox="1"/>
          <p:nvPr/>
        </p:nvSpPr>
        <p:spPr>
          <a:xfrm>
            <a:off x="609600" y="3810000"/>
            <a:ext cx="5943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How the Call Stack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method is </a:t>
            </a:r>
            <a:r>
              <a:rPr lang="en-US" b="1" dirty="0"/>
              <a:t>called</a:t>
            </a:r>
            <a:r>
              <a:rPr lang="en-US" dirty="0"/>
              <a:t> → a new stack frame is </a:t>
            </a:r>
            <a:r>
              <a:rPr lang="en-US" b="1" dirty="0"/>
              <a:t>pushed</a:t>
            </a:r>
            <a:r>
              <a:rPr lang="en-US" dirty="0"/>
              <a:t> onto the stack.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the method </a:t>
            </a:r>
            <a:r>
              <a:rPr lang="en-US" b="1" dirty="0"/>
              <a:t>returns</a:t>
            </a:r>
            <a:r>
              <a:rPr lang="en-US" dirty="0"/>
              <a:t>, its stack frame is </a:t>
            </a:r>
            <a:r>
              <a:rPr lang="en-US" b="1" dirty="0"/>
              <a:t>popped</a:t>
            </a:r>
            <a:r>
              <a:rPr lang="en-US" dirty="0"/>
              <a:t> 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JVM automatically manages this process.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29E26A-047F-5521-F4FD-7E2F4E03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0165B9-489E-2857-27DE-DACD642D1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9600"/>
            <a:ext cx="6444615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Call</a:t>
            </a:r>
            <a:r>
              <a:rPr spc="-395" dirty="0"/>
              <a:t> </a:t>
            </a:r>
            <a:r>
              <a:rPr spc="-190" dirty="0"/>
              <a:t>Stack</a:t>
            </a:r>
            <a:r>
              <a:rPr spc="-390" dirty="0"/>
              <a:t> </a:t>
            </a:r>
            <a:r>
              <a:rPr dirty="0"/>
              <a:t>and</a:t>
            </a:r>
            <a:r>
              <a:rPr spc="-390" dirty="0"/>
              <a:t> </a:t>
            </a:r>
            <a:r>
              <a:rPr spc="-55" dirty="0"/>
              <a:t>Propagation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26ED060-DFE3-D914-37DE-C5755E495BDE}"/>
              </a:ext>
            </a:extLst>
          </p:cNvPr>
          <p:cNvSpPr txBox="1"/>
          <p:nvPr/>
        </p:nvSpPr>
        <p:spPr>
          <a:xfrm>
            <a:off x="457200" y="1398316"/>
            <a:ext cx="10363200" cy="203068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r>
              <a:rPr lang="en-US" b="1" dirty="0"/>
              <a:t>What is a Call Stack?</a:t>
            </a:r>
          </a:p>
          <a:p>
            <a:r>
              <a:rPr lang="en-US" dirty="0"/>
              <a:t>The </a:t>
            </a:r>
            <a:r>
              <a:rPr lang="en-US" b="1" dirty="0"/>
              <a:t>call stack</a:t>
            </a:r>
            <a:r>
              <a:rPr lang="en-US" dirty="0"/>
              <a:t> in Java is a </a:t>
            </a:r>
            <a:r>
              <a:rPr lang="en-US" b="1" dirty="0"/>
              <a:t>runtime structure</a:t>
            </a:r>
            <a:r>
              <a:rPr lang="en-US" dirty="0"/>
              <a:t> that stores information about </a:t>
            </a:r>
            <a:r>
              <a:rPr lang="en-US" b="1" dirty="0"/>
              <a:t>method calls</a:t>
            </a:r>
            <a:r>
              <a:rPr lang="en-US" dirty="0"/>
              <a:t>.</a:t>
            </a:r>
          </a:p>
          <a:p>
            <a:r>
              <a:rPr lang="en-US" dirty="0"/>
              <a:t>It uses the </a:t>
            </a:r>
            <a:r>
              <a:rPr lang="en-US" b="1" dirty="0"/>
              <a:t>LIFO (Last In, First Out)</a:t>
            </a:r>
            <a:r>
              <a:rPr lang="en-US" dirty="0"/>
              <a:t> principle.</a:t>
            </a:r>
          </a:p>
          <a:p>
            <a:r>
              <a:rPr lang="en-US" dirty="0"/>
              <a:t>Each active method call creates a </a:t>
            </a:r>
            <a:r>
              <a:rPr lang="en-US" b="1" dirty="0"/>
              <a:t>stack frame</a:t>
            </a:r>
            <a:r>
              <a:rPr lang="en-US" dirty="0"/>
              <a:t> containing: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Method parameters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Return address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804DFA1-AF75-316C-CEC4-7B9AC285335C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A8584-C85A-3947-DEDB-943423E3B967}"/>
              </a:ext>
            </a:extLst>
          </p:cNvPr>
          <p:cNvSpPr txBox="1"/>
          <p:nvPr/>
        </p:nvSpPr>
        <p:spPr>
          <a:xfrm>
            <a:off x="609600" y="3810000"/>
            <a:ext cx="5943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How the Call Stack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method is </a:t>
            </a:r>
            <a:r>
              <a:rPr lang="en-US" b="1" dirty="0"/>
              <a:t>called</a:t>
            </a:r>
            <a:r>
              <a:rPr lang="en-US" dirty="0"/>
              <a:t> → a new stack frame is </a:t>
            </a:r>
            <a:r>
              <a:rPr lang="en-US" b="1" dirty="0"/>
              <a:t>pushed</a:t>
            </a:r>
            <a:r>
              <a:rPr lang="en-US" dirty="0"/>
              <a:t> onto the stack.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the method </a:t>
            </a:r>
            <a:r>
              <a:rPr lang="en-US" b="1" dirty="0"/>
              <a:t>returns</a:t>
            </a:r>
            <a:r>
              <a:rPr lang="en-US" dirty="0"/>
              <a:t>, its stack frame is </a:t>
            </a:r>
            <a:r>
              <a:rPr lang="en-US" b="1" dirty="0"/>
              <a:t>popped</a:t>
            </a:r>
            <a:r>
              <a:rPr lang="en-US" dirty="0"/>
              <a:t> 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JVM automatically manages this process.</a:t>
            </a:r>
          </a:p>
        </p:txBody>
      </p:sp>
    </p:spTree>
    <p:extLst>
      <p:ext uri="{BB962C8B-B14F-4D97-AF65-F5344CB8AC3E}">
        <p14:creationId xmlns:p14="http://schemas.microsoft.com/office/powerpoint/2010/main" val="97072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DDF363-3283-35B8-0AF8-D1A03AA71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9BC369C-6EAC-EE77-C394-1CAF7DC03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9600"/>
            <a:ext cx="6444615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Call</a:t>
            </a:r>
            <a:r>
              <a:rPr spc="-395" dirty="0"/>
              <a:t> </a:t>
            </a:r>
            <a:r>
              <a:rPr spc="-190" dirty="0"/>
              <a:t>Stack</a:t>
            </a:r>
            <a:r>
              <a:rPr spc="-390" dirty="0"/>
              <a:t> </a:t>
            </a:r>
            <a:r>
              <a:rPr dirty="0"/>
              <a:t>and</a:t>
            </a:r>
            <a:r>
              <a:rPr spc="-390" dirty="0"/>
              <a:t> </a:t>
            </a:r>
            <a:r>
              <a:rPr spc="-55" dirty="0"/>
              <a:t>Propagation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48DF6C-9D17-897D-D2D5-6455173A952E}"/>
              </a:ext>
            </a:extLst>
          </p:cNvPr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2FB7F-3019-A79B-A58C-2CBA57690A2F}"/>
              </a:ext>
            </a:extLst>
          </p:cNvPr>
          <p:cNvSpPr txBox="1"/>
          <p:nvPr/>
        </p:nvSpPr>
        <p:spPr>
          <a:xfrm>
            <a:off x="457200" y="129540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Code (Normal Execution)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79D6F-56EF-ECF4-CBB7-19A33D71F94B}"/>
              </a:ext>
            </a:extLst>
          </p:cNvPr>
          <p:cNvSpPr txBox="1"/>
          <p:nvPr/>
        </p:nvSpPr>
        <p:spPr>
          <a:xfrm>
            <a:off x="533400" y="1905000"/>
            <a:ext cx="5943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CallStackExample</a:t>
            </a:r>
            <a:r>
              <a:rPr lang="en-US" dirty="0"/>
              <a:t> {</a:t>
            </a:r>
          </a:p>
          <a:p>
            <a:r>
              <a:rPr lang="en-US" dirty="0"/>
              <a:t>    static void A() {</a:t>
            </a:r>
          </a:p>
          <a:p>
            <a:r>
              <a:rPr lang="en-US" dirty="0"/>
              <a:t>        B();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static void B() {</a:t>
            </a:r>
          </a:p>
          <a:p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("Inside method </a:t>
            </a:r>
            <a:r>
              <a:rPr lang="en-US" b="1" dirty="0"/>
              <a:t>B</a:t>
            </a:r>
            <a:r>
              <a:rPr lang="en-US" dirty="0"/>
              <a:t>");</a:t>
            </a:r>
          </a:p>
          <a:p>
            <a:r>
              <a:rPr lang="en-US" dirty="0"/>
              <a:t>        C();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static void C()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("Inside method C");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(10/0);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A();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E849D3-9AF1-1589-180D-95F24FF15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658970"/>
              </p:ext>
            </p:extLst>
          </p:nvPr>
        </p:nvGraphicFramePr>
        <p:xfrm>
          <a:off x="5928852" y="1512042"/>
          <a:ext cx="5424948" cy="1769745"/>
        </p:xfrm>
        <a:graphic>
          <a:graphicData uri="http://schemas.openxmlformats.org/drawingml/2006/table">
            <a:tbl>
              <a:tblPr/>
              <a:tblGrid>
                <a:gridCol w="2712474">
                  <a:extLst>
                    <a:ext uri="{9D8B030D-6E8A-4147-A177-3AD203B41FA5}">
                      <a16:colId xmlns:a16="http://schemas.microsoft.com/office/drawing/2014/main" val="1611784827"/>
                    </a:ext>
                  </a:extLst>
                </a:gridCol>
                <a:gridCol w="2712474">
                  <a:extLst>
                    <a:ext uri="{9D8B030D-6E8A-4147-A177-3AD203B41FA5}">
                      <a16:colId xmlns:a16="http://schemas.microsoft.com/office/drawing/2014/main" val="4135671806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Stack (Top → Bottom)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96251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Currently executing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05969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Caller of C()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882649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Main caller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58905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E04540CB-BFB5-2D2C-6977-247D15196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4103" y="1068169"/>
            <a:ext cx="73341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E7BD8-725B-E7DA-FAEB-9E7A9D63B9EE}"/>
              </a:ext>
            </a:extLst>
          </p:cNvPr>
          <p:cNvSpPr txBox="1"/>
          <p:nvPr/>
        </p:nvSpPr>
        <p:spPr>
          <a:xfrm>
            <a:off x="5909187" y="3962400"/>
            <a:ext cx="4953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Flow: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main()</a:t>
            </a:r>
            <a:r>
              <a:rPr lang="en-US" dirty="0"/>
              <a:t> calls </a:t>
            </a:r>
            <a:r>
              <a:rPr lang="en-US" dirty="0">
                <a:latin typeface="Courier New" panose="02070309020205020404" pitchFamily="49" charset="0"/>
              </a:rPr>
              <a:t>A()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A()</a:t>
            </a:r>
            <a:r>
              <a:rPr lang="en-US" dirty="0"/>
              <a:t> frame pushed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A()</a:t>
            </a:r>
            <a:r>
              <a:rPr lang="en-US" dirty="0"/>
              <a:t> calls </a:t>
            </a:r>
            <a:r>
              <a:rPr lang="en-US" dirty="0">
                <a:latin typeface="Courier New" panose="02070309020205020404" pitchFamily="49" charset="0"/>
              </a:rPr>
              <a:t>B()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B()</a:t>
            </a:r>
            <a:r>
              <a:rPr lang="en-US" dirty="0"/>
              <a:t> frame pushed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B()</a:t>
            </a:r>
            <a:r>
              <a:rPr lang="en-US" dirty="0"/>
              <a:t> calls </a:t>
            </a:r>
            <a:r>
              <a:rPr lang="en-US" dirty="0">
                <a:latin typeface="Courier New" panose="02070309020205020404" pitchFamily="49" charset="0"/>
              </a:rPr>
              <a:t>C()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C()</a:t>
            </a:r>
            <a:r>
              <a:rPr lang="en-US" dirty="0"/>
              <a:t> frame pushed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C()</a:t>
            </a:r>
            <a:r>
              <a:rPr lang="en-US" dirty="0"/>
              <a:t> executes → returns → frames popped in reverse order</a:t>
            </a:r>
          </a:p>
        </p:txBody>
      </p:sp>
    </p:spTree>
    <p:extLst>
      <p:ext uri="{BB962C8B-B14F-4D97-AF65-F5344CB8AC3E}">
        <p14:creationId xmlns:p14="http://schemas.microsoft.com/office/powerpoint/2010/main" val="285935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CBA8EB-377F-6CEB-52B9-1558412E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13036BA-EABB-38A1-1C50-C26C32EEC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92343"/>
            <a:ext cx="8610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Exception Handling Keywords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312515-3ECD-87B5-5DFA-94F01AF757A6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C66201-1D3A-3B74-30A3-B4EF6CB04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56038"/>
              </p:ext>
            </p:extLst>
          </p:nvPr>
        </p:nvGraphicFramePr>
        <p:xfrm>
          <a:off x="1574116" y="2203052"/>
          <a:ext cx="8789084" cy="305474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4394542">
                  <a:extLst>
                    <a:ext uri="{9D8B030D-6E8A-4147-A177-3AD203B41FA5}">
                      <a16:colId xmlns:a16="http://schemas.microsoft.com/office/drawing/2014/main" val="1796020989"/>
                    </a:ext>
                  </a:extLst>
                </a:gridCol>
                <a:gridCol w="4394542">
                  <a:extLst>
                    <a:ext uri="{9D8B030D-6E8A-4147-A177-3AD203B41FA5}">
                      <a16:colId xmlns:a16="http://schemas.microsoft.com/office/drawing/2014/main" val="1348820243"/>
                    </a:ext>
                  </a:extLst>
                </a:gridCol>
              </a:tblGrid>
              <a:tr h="450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Keyword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extLst>
                  <a:ext uri="{0D108BD9-81ED-4DB2-BD59-A6C34878D82A}">
                    <a16:rowId xmlns:a16="http://schemas.microsoft.com/office/drawing/2014/main" val="2671265743"/>
                  </a:ext>
                </a:extLst>
              </a:tr>
              <a:tr h="450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try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Block of code where exception might occur.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extLst>
                  <a:ext uri="{0D108BD9-81ED-4DB2-BD59-A6C34878D82A}">
                    <a16:rowId xmlns:a16="http://schemas.microsoft.com/office/drawing/2014/main" val="58866804"/>
                  </a:ext>
                </a:extLst>
              </a:tr>
              <a:tr h="450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catch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Handles the exception type.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extLst>
                  <a:ext uri="{0D108BD9-81ED-4DB2-BD59-A6C34878D82A}">
                    <a16:rowId xmlns:a16="http://schemas.microsoft.com/office/drawing/2014/main" val="2542124956"/>
                  </a:ext>
                </a:extLst>
              </a:tr>
              <a:tr h="804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finally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Executes code regardless of exception (cleanup).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extLst>
                  <a:ext uri="{0D108BD9-81ED-4DB2-BD59-A6C34878D82A}">
                    <a16:rowId xmlns:a16="http://schemas.microsoft.com/office/drawing/2014/main" val="2689152197"/>
                  </a:ext>
                </a:extLst>
              </a:tr>
              <a:tr h="450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throw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Used to explicitly throw an exception.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extLst>
                  <a:ext uri="{0D108BD9-81ED-4DB2-BD59-A6C34878D82A}">
                    <a16:rowId xmlns:a16="http://schemas.microsoft.com/office/drawing/2014/main" val="2595022447"/>
                  </a:ext>
                </a:extLst>
              </a:tr>
              <a:tr h="450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throws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Declares exceptions in a method signature.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16" marR="74216" marT="37108" marB="37108" anchor="ctr"/>
                </a:tc>
                <a:extLst>
                  <a:ext uri="{0D108BD9-81ED-4DB2-BD59-A6C34878D82A}">
                    <a16:rowId xmlns:a16="http://schemas.microsoft.com/office/drawing/2014/main" val="42520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49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9B02BA-D102-CD78-35E6-6D07A56C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7878C4C-D5D7-D9E5-4811-8E4E2A2B73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92343"/>
            <a:ext cx="8610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85" dirty="0"/>
              <a:t>Try and  catch block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00F02F-F3A1-1A1F-B45D-51C018A8F0CA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4B35B-298A-2D06-667F-8F6F46FEEFF0}"/>
              </a:ext>
            </a:extLst>
          </p:cNvPr>
          <p:cNvSpPr txBox="1"/>
          <p:nvPr/>
        </p:nvSpPr>
        <p:spPr>
          <a:xfrm>
            <a:off x="990600" y="1914801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try block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</a:rPr>
              <a:t>try</a:t>
            </a:r>
            <a:r>
              <a:rPr lang="en-US" dirty="0"/>
              <a:t> block contains code that </a:t>
            </a:r>
            <a:r>
              <a:rPr lang="en-US" b="1" dirty="0"/>
              <a:t>may throw an exception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an exception occurs, normal execution stops, and control passes to the appropriate </a:t>
            </a:r>
            <a:r>
              <a:rPr lang="en-US" dirty="0">
                <a:latin typeface="Courier New" panose="02070309020205020404" pitchFamily="49" charset="0"/>
              </a:rPr>
              <a:t>catch</a:t>
            </a:r>
            <a:r>
              <a:rPr lang="en-US" dirty="0"/>
              <a:t> block.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42290-044B-78C5-7CF9-C8FAA753D903}"/>
              </a:ext>
            </a:extLst>
          </p:cNvPr>
          <p:cNvSpPr txBox="1"/>
          <p:nvPr/>
        </p:nvSpPr>
        <p:spPr>
          <a:xfrm>
            <a:off x="1219200" y="4648200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try {</a:t>
            </a:r>
          </a:p>
          <a:p>
            <a:r>
              <a:rPr lang="en-US" dirty="0"/>
              <a:t>    int result = 10 / 0; // </a:t>
            </a:r>
            <a:r>
              <a:rPr lang="en-US" dirty="0" err="1"/>
              <a:t>ArithmeticException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1A8071-B293-B33E-7C33-F4E8779DFCEB}"/>
              </a:ext>
            </a:extLst>
          </p:cNvPr>
          <p:cNvSpPr txBox="1"/>
          <p:nvPr/>
        </p:nvSpPr>
        <p:spPr>
          <a:xfrm>
            <a:off x="1219200" y="3429000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try {</a:t>
            </a:r>
          </a:p>
          <a:p>
            <a:r>
              <a:rPr lang="en-US" dirty="0"/>
              <a:t>    // Code that might cause an exception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9784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7E604A-CEB4-2D0C-A72A-95CB902C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99EE9ED-EFBC-61F8-E533-0BE97A0A88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92343"/>
            <a:ext cx="8610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85" dirty="0"/>
              <a:t>Try and  catch block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F347A4-6D07-106A-2F3C-B6EA8C700D85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E76E3-1261-7F92-347C-1DF744F305EB}"/>
              </a:ext>
            </a:extLst>
          </p:cNvPr>
          <p:cNvSpPr txBox="1"/>
          <p:nvPr/>
        </p:nvSpPr>
        <p:spPr>
          <a:xfrm>
            <a:off x="990600" y="1914801"/>
            <a:ext cx="868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catch block</a:t>
            </a:r>
          </a:p>
          <a:p>
            <a:r>
              <a:rPr lang="en-US" dirty="0"/>
              <a:t>The catch block handles the specific type of exception that occurred.</a:t>
            </a:r>
          </a:p>
          <a:p>
            <a:r>
              <a:rPr lang="en-US" dirty="0"/>
              <a:t>You can have </a:t>
            </a:r>
            <a:r>
              <a:rPr lang="en-US" b="1" dirty="0"/>
              <a:t>multiple catch blocks</a:t>
            </a:r>
            <a:r>
              <a:rPr lang="en-US" dirty="0"/>
              <a:t> to handle different exceptions separately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059D9-45B6-9E09-9113-FB88FFCA428F}"/>
              </a:ext>
            </a:extLst>
          </p:cNvPr>
          <p:cNvSpPr txBox="1"/>
          <p:nvPr/>
        </p:nvSpPr>
        <p:spPr>
          <a:xfrm>
            <a:off x="1219200" y="4648200"/>
            <a:ext cx="5943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try {</a:t>
            </a:r>
          </a:p>
          <a:p>
            <a:r>
              <a:rPr lang="en-US" dirty="0"/>
              <a:t>    int result = 10 / 0;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catch (</a:t>
            </a:r>
            <a:r>
              <a:rPr lang="en-US" dirty="0" err="1"/>
              <a:t>ArithmeticException</a:t>
            </a:r>
            <a:r>
              <a:rPr lang="en-US" dirty="0"/>
              <a:t> e)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("Error: Division by zero!");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0995C-27E2-4783-8ED7-2256A8B8EDD9}"/>
              </a:ext>
            </a:extLst>
          </p:cNvPr>
          <p:cNvSpPr txBox="1"/>
          <p:nvPr/>
        </p:nvSpPr>
        <p:spPr>
          <a:xfrm>
            <a:off x="990600" y="3166776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catch (</a:t>
            </a:r>
            <a:r>
              <a:rPr lang="en-US" dirty="0" err="1"/>
              <a:t>ExceptionType</a:t>
            </a:r>
            <a:r>
              <a:rPr lang="en-US" dirty="0"/>
              <a:t> e) {</a:t>
            </a:r>
          </a:p>
          <a:p>
            <a:r>
              <a:rPr lang="en-US" dirty="0"/>
              <a:t>    // Code that handles the exception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470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7419DF-4615-3159-8FAA-E4E3D4387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D91E9FA-FE5F-9C8D-E5C8-8080FBD96E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792343"/>
            <a:ext cx="8610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85" dirty="0"/>
              <a:t>Try , catch and finally block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2F8983C-9A5C-59E8-C461-3EFDDEA69001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D7342-C6FE-B853-A7EB-F89D1EE79FEA}"/>
              </a:ext>
            </a:extLst>
          </p:cNvPr>
          <p:cNvSpPr txBox="1"/>
          <p:nvPr/>
        </p:nvSpPr>
        <p:spPr>
          <a:xfrm>
            <a:off x="609600" y="1359165"/>
            <a:ext cx="990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3. finally block</a:t>
            </a:r>
          </a:p>
          <a:p>
            <a:r>
              <a:rPr lang="en-US" dirty="0"/>
              <a:t>The finally block contains code that </a:t>
            </a:r>
            <a:r>
              <a:rPr lang="en-US" b="1" dirty="0"/>
              <a:t>always executes</a:t>
            </a:r>
            <a:r>
              <a:rPr lang="en-US" dirty="0"/>
              <a:t>, whether an exception occurs or not.</a:t>
            </a:r>
          </a:p>
          <a:p>
            <a:r>
              <a:rPr lang="en-US" dirty="0"/>
              <a:t>Commonly used for </a:t>
            </a:r>
            <a:r>
              <a:rPr lang="en-US" b="1" dirty="0"/>
              <a:t>cleanup tasks</a:t>
            </a:r>
            <a:r>
              <a:rPr lang="en-US" dirty="0"/>
              <a:t> (like closing files, releasing resources, or disconnecting from databases).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386A8-B7E9-4976-1FFB-631E5ECEEDE9}"/>
              </a:ext>
            </a:extLst>
          </p:cNvPr>
          <p:cNvSpPr txBox="1"/>
          <p:nvPr/>
        </p:nvSpPr>
        <p:spPr>
          <a:xfrm>
            <a:off x="647700" y="2649337"/>
            <a:ext cx="5943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try {</a:t>
            </a:r>
          </a:p>
          <a:p>
            <a:r>
              <a:rPr lang="en-US" dirty="0"/>
              <a:t>    int[] numbers = {1, 2, 3};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(numbers[5]); // Will throw </a:t>
            </a:r>
            <a:r>
              <a:rPr lang="en-US" dirty="0" err="1"/>
              <a:t>ArrayIndexOutOfBoundsException</a:t>
            </a:r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/>
              <a:t>catch (</a:t>
            </a:r>
            <a:r>
              <a:rPr lang="en-US" dirty="0" err="1"/>
              <a:t>ArrayIndexOutOfBoundsException</a:t>
            </a:r>
            <a:r>
              <a:rPr lang="en-US" dirty="0"/>
              <a:t> e)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("Error: Array index is out of bounds.");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finally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("This block always executes.");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C5FCFE-D925-5256-FA68-4EFDF906B138}"/>
              </a:ext>
            </a:extLst>
          </p:cNvPr>
          <p:cNvSpPr txBox="1"/>
          <p:nvPr/>
        </p:nvSpPr>
        <p:spPr>
          <a:xfrm>
            <a:off x="6477000" y="2649337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finally {</a:t>
            </a:r>
          </a:p>
          <a:p>
            <a:r>
              <a:rPr lang="en-US" dirty="0"/>
              <a:t>    // Code that always executes (optional)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F31B8-6B8E-84ED-F35A-5517E22FBC2C}"/>
              </a:ext>
            </a:extLst>
          </p:cNvPr>
          <p:cNvSpPr txBox="1"/>
          <p:nvPr/>
        </p:nvSpPr>
        <p:spPr>
          <a:xfrm>
            <a:off x="6496665" y="3594790"/>
            <a:ext cx="6209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Error: Array index is out of bounds.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This block always executes.</a:t>
            </a:r>
          </a:p>
        </p:txBody>
      </p:sp>
    </p:spTree>
    <p:extLst>
      <p:ext uri="{BB962C8B-B14F-4D97-AF65-F5344CB8AC3E}">
        <p14:creationId xmlns:p14="http://schemas.microsoft.com/office/powerpoint/2010/main" val="1808277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094EAA-5045-8513-4930-BBE20A61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01B6420-0B05-1372-F807-464B4B482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68290"/>
            <a:ext cx="11506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Example: Division with Exception Handling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92EA91B-6512-7F25-0F43-704FBDCFB970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2E9CD-FAA4-BBF3-1304-D0EF3044E3BA}"/>
              </a:ext>
            </a:extLst>
          </p:cNvPr>
          <p:cNvSpPr txBox="1"/>
          <p:nvPr/>
        </p:nvSpPr>
        <p:spPr>
          <a:xfrm>
            <a:off x="762000" y="1506127"/>
            <a:ext cx="5943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SimpleExample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try {</a:t>
            </a:r>
          </a:p>
          <a:p>
            <a:r>
              <a:rPr lang="en-US" dirty="0"/>
              <a:t>            int a = 10;</a:t>
            </a:r>
          </a:p>
          <a:p>
            <a:r>
              <a:rPr lang="en-US" dirty="0"/>
              <a:t>            int b = 0;</a:t>
            </a:r>
          </a:p>
          <a:p>
            <a:r>
              <a:rPr lang="en-US" dirty="0"/>
              <a:t>            int result = a / b; // This will cause an exception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("Result: " + result);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    catch (</a:t>
            </a:r>
            <a:r>
              <a:rPr lang="en-US" dirty="0" err="1"/>
              <a:t>ArithmeticException</a:t>
            </a:r>
            <a:r>
              <a:rPr lang="en-US" dirty="0"/>
              <a:t> e)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("Error: Cannot divide by zero!");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    finally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("Program finished.");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5F6F3-D649-2C86-72E9-98970615DBEA}"/>
              </a:ext>
            </a:extLst>
          </p:cNvPr>
          <p:cNvSpPr txBox="1"/>
          <p:nvPr/>
        </p:nvSpPr>
        <p:spPr>
          <a:xfrm>
            <a:off x="6477000" y="1503402"/>
            <a:ext cx="594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Error: Cannot divide by zero!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Program finished.</a:t>
            </a:r>
          </a:p>
        </p:txBody>
      </p:sp>
    </p:spTree>
    <p:extLst>
      <p:ext uri="{BB962C8B-B14F-4D97-AF65-F5344CB8AC3E}">
        <p14:creationId xmlns:p14="http://schemas.microsoft.com/office/powerpoint/2010/main" val="3422832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DC1714-CF97-9412-1AB2-FB9A4B2E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419324F-9951-7365-43D9-3362A2B39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68290"/>
            <a:ext cx="11506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Example: Accessing an Invalid Array Index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1FFAFE3-D4D9-C3E2-1049-D3A95CB83BBF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F2674-27D2-511F-3E0D-82CF71A451AD}"/>
              </a:ext>
            </a:extLst>
          </p:cNvPr>
          <p:cNvSpPr txBox="1"/>
          <p:nvPr/>
        </p:nvSpPr>
        <p:spPr>
          <a:xfrm>
            <a:off x="914400" y="1466531"/>
            <a:ext cx="5943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ArrayExample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try {</a:t>
            </a:r>
          </a:p>
          <a:p>
            <a:r>
              <a:rPr lang="en-US" dirty="0"/>
              <a:t>            int[] numbers = {10, 20, 30};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("The number is: " + numbers[5]); // Invalid index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    catch (</a:t>
            </a:r>
            <a:r>
              <a:rPr lang="en-US" dirty="0" err="1"/>
              <a:t>ArrayIndexOutOfBoundsException</a:t>
            </a:r>
            <a:r>
              <a:rPr lang="en-US" dirty="0"/>
              <a:t> e)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("Error: You tried to access an invalid array index!");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    finally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("Program finished.");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86F42-9F4E-F8F0-5224-55C05EE1FCFF}"/>
              </a:ext>
            </a:extLst>
          </p:cNvPr>
          <p:cNvSpPr txBox="1"/>
          <p:nvPr/>
        </p:nvSpPr>
        <p:spPr>
          <a:xfrm>
            <a:off x="6400800" y="1828800"/>
            <a:ext cx="594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Error: You tried to access an invalid array index!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Program finished.</a:t>
            </a:r>
          </a:p>
        </p:txBody>
      </p:sp>
    </p:spTree>
    <p:extLst>
      <p:ext uri="{BB962C8B-B14F-4D97-AF65-F5344CB8AC3E}">
        <p14:creationId xmlns:p14="http://schemas.microsoft.com/office/powerpoint/2010/main" val="587627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9037D1-5E5B-3048-07AF-5E144FDB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D92DF44-9859-CEDE-87E1-8242B5C89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68290"/>
            <a:ext cx="11506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Multiple try-catch blocks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B383029-9567-0A43-570E-CC7F7D2BAD5A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5D548-523F-7282-93CF-0AE51049D292}"/>
              </a:ext>
            </a:extLst>
          </p:cNvPr>
          <p:cNvSpPr txBox="1"/>
          <p:nvPr/>
        </p:nvSpPr>
        <p:spPr>
          <a:xfrm>
            <a:off x="990600" y="1447800"/>
            <a:ext cx="71382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MultipleCatchExample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try {</a:t>
            </a:r>
          </a:p>
          <a:p>
            <a:r>
              <a:rPr lang="en-US" dirty="0"/>
              <a:t>            int[] numbers = {10, 20, 30};</a:t>
            </a:r>
          </a:p>
          <a:p>
            <a:r>
              <a:rPr lang="en-US" dirty="0"/>
              <a:t>            int a = 10, b = 0;</a:t>
            </a:r>
          </a:p>
          <a:p>
            <a:endParaRPr lang="en-US" dirty="0"/>
          </a:p>
          <a:p>
            <a:r>
              <a:rPr lang="en-US" dirty="0"/>
              <a:t>            // This line may throw an </a:t>
            </a:r>
            <a:r>
              <a:rPr lang="en-US" dirty="0" err="1"/>
              <a:t>ArithmeticException</a:t>
            </a:r>
            <a:endParaRPr lang="en-US" dirty="0"/>
          </a:p>
          <a:p>
            <a:r>
              <a:rPr lang="en-US" dirty="0"/>
              <a:t>            int result = a / b;</a:t>
            </a:r>
          </a:p>
          <a:p>
            <a:endParaRPr lang="en-US" dirty="0"/>
          </a:p>
          <a:p>
            <a:r>
              <a:rPr lang="en-US" dirty="0"/>
              <a:t>            // This line may throw an </a:t>
            </a:r>
            <a:r>
              <a:rPr lang="en-US" dirty="0" err="1"/>
              <a:t>ArrayIndexOutOfBoundsException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("Number: " + numbers[5]);</a:t>
            </a:r>
          </a:p>
          <a:p>
            <a:r>
              <a:rPr lang="en-US" dirty="0"/>
              <a:t>        } </a:t>
            </a:r>
          </a:p>
        </p:txBody>
      </p:sp>
    </p:spTree>
    <p:extLst>
      <p:ext uri="{BB962C8B-B14F-4D97-AF65-F5344CB8AC3E}">
        <p14:creationId xmlns:p14="http://schemas.microsoft.com/office/powerpoint/2010/main" val="971838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6E691B-2247-D620-ED27-99839F83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C61DD4-3FCE-C7F0-5599-C1C4944FE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68290"/>
            <a:ext cx="11506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Multiple try-catch blocks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F7E2268-19BC-31C4-0F3D-5C6EEB73C5E8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AE3A0C-C2DA-2428-F160-4B9F3ACE9688}"/>
              </a:ext>
            </a:extLst>
          </p:cNvPr>
          <p:cNvSpPr txBox="1"/>
          <p:nvPr/>
        </p:nvSpPr>
        <p:spPr>
          <a:xfrm>
            <a:off x="1371600" y="1828800"/>
            <a:ext cx="8915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catch (</a:t>
            </a:r>
            <a:r>
              <a:rPr lang="en-US" dirty="0" err="1"/>
              <a:t>ArithmeticException</a:t>
            </a:r>
            <a:r>
              <a:rPr lang="en-US" dirty="0"/>
              <a:t> e)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("Error: Division by zero!");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    catch (</a:t>
            </a:r>
            <a:r>
              <a:rPr lang="en-US" dirty="0" err="1"/>
              <a:t>ArrayIndexOutOfBoundsException</a:t>
            </a:r>
            <a:r>
              <a:rPr lang="en-US" dirty="0"/>
              <a:t> e)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("Error: Invalid array index!");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    catch (Exception e)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("Some other error occurred: " + </a:t>
            </a:r>
            <a:r>
              <a:rPr lang="en-US" dirty="0" err="1"/>
              <a:t>e.getMessage</a:t>
            </a:r>
            <a:r>
              <a:rPr lang="en-US" dirty="0"/>
              <a:t>());</a:t>
            </a:r>
          </a:p>
          <a:p>
            <a:r>
              <a:rPr lang="en-US" dirty="0"/>
              <a:t>        } </a:t>
            </a:r>
          </a:p>
          <a:p>
            <a:r>
              <a:rPr lang="en-US" dirty="0"/>
              <a:t>        finally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("Program finished.");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337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138C96-BA72-90F2-691F-59CA4FD5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2C98194-B64C-5A90-C319-7DD32893C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68290"/>
            <a:ext cx="11506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85" dirty="0"/>
              <a:t>Print Exception Information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A6EF191-4129-0590-B965-FE1EC32B606A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19025-9709-52D5-D5C0-B9BE19139918}"/>
              </a:ext>
            </a:extLst>
          </p:cNvPr>
          <p:cNvSpPr txBox="1"/>
          <p:nvPr/>
        </p:nvSpPr>
        <p:spPr>
          <a:xfrm>
            <a:off x="533400" y="1371600"/>
            <a:ext cx="5943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Using </a:t>
            </a:r>
            <a:r>
              <a:rPr lang="en-US" b="1" dirty="0" err="1">
                <a:latin typeface="Courier New" panose="02070309020205020404" pitchFamily="49" charset="0"/>
              </a:rPr>
              <a:t>getMessage</a:t>
            </a:r>
            <a:r>
              <a:rPr lang="en-US" b="1" dirty="0">
                <a:latin typeface="Courier New" panose="02070309020205020404" pitchFamily="49" charset="0"/>
              </a:rPr>
              <a:t>()</a:t>
            </a:r>
            <a:endParaRPr lang="en-US" b="1" dirty="0"/>
          </a:p>
          <a:p>
            <a:pPr>
              <a:buNone/>
            </a:pPr>
            <a:r>
              <a:rPr lang="en-US" dirty="0"/>
              <a:t>Prints only the message associated with the exception.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try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int a = 10 / 0;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 catch (</a:t>
            </a:r>
            <a:r>
              <a:rPr lang="en-US" dirty="0" err="1">
                <a:latin typeface="Courier New" panose="02070309020205020404" pitchFamily="49" charset="0"/>
              </a:rPr>
              <a:t>ArithmeticException</a:t>
            </a:r>
            <a:r>
              <a:rPr lang="en-US" dirty="0">
                <a:latin typeface="Courier New" panose="02070309020205020404" pitchFamily="49" charset="0"/>
              </a:rPr>
              <a:t> e)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("Error: " + </a:t>
            </a:r>
            <a:r>
              <a:rPr lang="en-US" dirty="0" err="1">
                <a:latin typeface="Courier New" panose="02070309020205020404" pitchFamily="49" charset="0"/>
              </a:rPr>
              <a:t>e.getMessage</a:t>
            </a:r>
            <a:r>
              <a:rPr lang="en-US" dirty="0">
                <a:latin typeface="Courier New" panose="02070309020205020404" pitchFamily="49" charset="0"/>
              </a:rPr>
              <a:t>());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Error: / by zero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98F6C-323E-A93A-F6B0-2CCAA1259F3B}"/>
              </a:ext>
            </a:extLst>
          </p:cNvPr>
          <p:cNvSpPr txBox="1"/>
          <p:nvPr/>
        </p:nvSpPr>
        <p:spPr>
          <a:xfrm>
            <a:off x="5715000" y="2540438"/>
            <a:ext cx="5943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Using </a:t>
            </a:r>
            <a:r>
              <a:rPr lang="en-US" b="1" dirty="0" err="1">
                <a:latin typeface="Courier New" panose="02070309020205020404" pitchFamily="49" charset="0"/>
              </a:rPr>
              <a:t>toString</a:t>
            </a:r>
            <a:r>
              <a:rPr lang="en-US" b="1" dirty="0">
                <a:latin typeface="Courier New" panose="02070309020205020404" pitchFamily="49" charset="0"/>
              </a:rPr>
              <a:t>()</a:t>
            </a:r>
            <a:endParaRPr lang="en-US" b="1" dirty="0"/>
          </a:p>
          <a:p>
            <a:pPr>
              <a:buNone/>
            </a:pPr>
            <a:r>
              <a:rPr lang="en-US" dirty="0"/>
              <a:t>Prints the </a:t>
            </a:r>
            <a:r>
              <a:rPr lang="en-US" b="1" dirty="0"/>
              <a:t>exception class name</a:t>
            </a:r>
            <a:r>
              <a:rPr lang="en-US" dirty="0"/>
              <a:t> along with the message.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try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int a = 10 / 0;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 catch (</a:t>
            </a:r>
            <a:r>
              <a:rPr lang="en-US" dirty="0" err="1">
                <a:latin typeface="Courier New" panose="02070309020205020404" pitchFamily="49" charset="0"/>
              </a:rPr>
              <a:t>ArithmeticException</a:t>
            </a:r>
            <a:r>
              <a:rPr lang="en-US" dirty="0">
                <a:latin typeface="Courier New" panose="02070309020205020404" pitchFamily="49" charset="0"/>
              </a:rPr>
              <a:t> e)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e.toString</a:t>
            </a:r>
            <a:r>
              <a:rPr lang="en-US" dirty="0">
                <a:latin typeface="Courier New" panose="02070309020205020404" pitchFamily="49" charset="0"/>
              </a:rPr>
              <a:t>());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java.lang.ArithmeticException</a:t>
            </a:r>
            <a:r>
              <a:rPr lang="en-US" dirty="0">
                <a:latin typeface="Courier New" panose="02070309020205020404" pitchFamily="49" charset="0"/>
              </a:rPr>
              <a:t>: / by zero</a:t>
            </a:r>
          </a:p>
        </p:txBody>
      </p:sp>
    </p:spTree>
    <p:extLst>
      <p:ext uri="{BB962C8B-B14F-4D97-AF65-F5344CB8AC3E}">
        <p14:creationId xmlns:p14="http://schemas.microsoft.com/office/powerpoint/2010/main" val="3083516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A48D23-49E3-1365-EFE9-A6BF74BE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8C2DE8C-4576-C118-0B89-1E77F543A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68290"/>
            <a:ext cx="11506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85" dirty="0"/>
              <a:t>Print Exception Information</a:t>
            </a:r>
            <a:endParaRPr spc="-18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6BF6055-ECC1-7048-3654-3C3316061FCB}"/>
              </a:ext>
            </a:extLst>
          </p:cNvPr>
          <p:cNvSpPr/>
          <p:nvPr/>
        </p:nvSpPr>
        <p:spPr>
          <a:xfrm>
            <a:off x="9866376" y="0"/>
            <a:ext cx="2021205" cy="2057400"/>
          </a:xfrm>
          <a:custGeom>
            <a:avLst/>
            <a:gdLst/>
            <a:ahLst/>
            <a:cxnLst/>
            <a:rect l="l" t="t" r="r" b="b"/>
            <a:pathLst>
              <a:path w="2021204" h="2057400">
                <a:moveTo>
                  <a:pt x="2020824" y="2057400"/>
                </a:moveTo>
                <a:lnTo>
                  <a:pt x="1888994" y="2057400"/>
                </a:lnTo>
                <a:lnTo>
                  <a:pt x="1841889" y="2044700"/>
                </a:lnTo>
                <a:lnTo>
                  <a:pt x="1795091" y="2044700"/>
                </a:lnTo>
                <a:lnTo>
                  <a:pt x="1748615" y="2032000"/>
                </a:lnTo>
                <a:lnTo>
                  <a:pt x="1702472" y="2032000"/>
                </a:lnTo>
                <a:lnTo>
                  <a:pt x="1566162" y="1993900"/>
                </a:lnTo>
                <a:lnTo>
                  <a:pt x="1521473" y="1993900"/>
                </a:lnTo>
                <a:lnTo>
                  <a:pt x="1477178" y="1981200"/>
                </a:lnTo>
                <a:lnTo>
                  <a:pt x="1433290" y="1955800"/>
                </a:lnTo>
                <a:lnTo>
                  <a:pt x="1304183" y="1917700"/>
                </a:lnTo>
                <a:lnTo>
                  <a:pt x="1262042" y="1892300"/>
                </a:lnTo>
                <a:lnTo>
                  <a:pt x="1220367" y="1879600"/>
                </a:lnTo>
                <a:lnTo>
                  <a:pt x="1179173" y="1854200"/>
                </a:lnTo>
                <a:lnTo>
                  <a:pt x="1138470" y="1841500"/>
                </a:lnTo>
                <a:lnTo>
                  <a:pt x="1058587" y="1790700"/>
                </a:lnTo>
                <a:lnTo>
                  <a:pt x="1019433" y="1778000"/>
                </a:lnTo>
                <a:lnTo>
                  <a:pt x="942757" y="1727200"/>
                </a:lnTo>
                <a:lnTo>
                  <a:pt x="905261" y="1701800"/>
                </a:lnTo>
                <a:lnTo>
                  <a:pt x="868342" y="1676400"/>
                </a:lnTo>
                <a:lnTo>
                  <a:pt x="832012" y="1651000"/>
                </a:lnTo>
                <a:lnTo>
                  <a:pt x="796283" y="1625600"/>
                </a:lnTo>
                <a:lnTo>
                  <a:pt x="761169" y="1600200"/>
                </a:lnTo>
                <a:lnTo>
                  <a:pt x="726680" y="1562100"/>
                </a:lnTo>
                <a:lnTo>
                  <a:pt x="692830" y="1536700"/>
                </a:lnTo>
                <a:lnTo>
                  <a:pt x="659630" y="1511300"/>
                </a:lnTo>
                <a:lnTo>
                  <a:pt x="627092" y="1473200"/>
                </a:lnTo>
                <a:lnTo>
                  <a:pt x="595230" y="1447800"/>
                </a:lnTo>
                <a:lnTo>
                  <a:pt x="564054" y="1409700"/>
                </a:lnTo>
                <a:lnTo>
                  <a:pt x="533578" y="1384300"/>
                </a:lnTo>
                <a:lnTo>
                  <a:pt x="503813" y="1346200"/>
                </a:lnTo>
                <a:lnTo>
                  <a:pt x="474771" y="1308100"/>
                </a:lnTo>
                <a:lnTo>
                  <a:pt x="446466" y="1270000"/>
                </a:lnTo>
                <a:lnTo>
                  <a:pt x="418908" y="1244600"/>
                </a:lnTo>
                <a:lnTo>
                  <a:pt x="392111" y="1206500"/>
                </a:lnTo>
                <a:lnTo>
                  <a:pt x="366086" y="1168400"/>
                </a:lnTo>
                <a:lnTo>
                  <a:pt x="340846" y="1130300"/>
                </a:lnTo>
                <a:lnTo>
                  <a:pt x="316403" y="1092200"/>
                </a:lnTo>
                <a:lnTo>
                  <a:pt x="292768" y="1054100"/>
                </a:lnTo>
                <a:lnTo>
                  <a:pt x="269955" y="1016000"/>
                </a:lnTo>
                <a:lnTo>
                  <a:pt x="247976" y="977900"/>
                </a:lnTo>
                <a:lnTo>
                  <a:pt x="226842" y="939800"/>
                </a:lnTo>
                <a:lnTo>
                  <a:pt x="206566" y="901700"/>
                </a:lnTo>
                <a:lnTo>
                  <a:pt x="187160" y="850900"/>
                </a:lnTo>
                <a:lnTo>
                  <a:pt x="168637" y="812800"/>
                </a:lnTo>
                <a:lnTo>
                  <a:pt x="151008" y="774700"/>
                </a:lnTo>
                <a:lnTo>
                  <a:pt x="134285" y="736600"/>
                </a:lnTo>
                <a:lnTo>
                  <a:pt x="118482" y="685800"/>
                </a:lnTo>
                <a:lnTo>
                  <a:pt x="103609" y="647700"/>
                </a:lnTo>
                <a:lnTo>
                  <a:pt x="89680" y="596900"/>
                </a:lnTo>
                <a:lnTo>
                  <a:pt x="76707" y="558800"/>
                </a:lnTo>
                <a:lnTo>
                  <a:pt x="64701" y="520700"/>
                </a:lnTo>
                <a:lnTo>
                  <a:pt x="53675" y="469900"/>
                </a:lnTo>
                <a:lnTo>
                  <a:pt x="43642" y="419100"/>
                </a:lnTo>
                <a:lnTo>
                  <a:pt x="34612" y="381000"/>
                </a:lnTo>
                <a:lnTo>
                  <a:pt x="26600" y="330200"/>
                </a:lnTo>
                <a:lnTo>
                  <a:pt x="19616" y="292100"/>
                </a:lnTo>
                <a:lnTo>
                  <a:pt x="13673" y="241300"/>
                </a:lnTo>
                <a:lnTo>
                  <a:pt x="8783" y="190500"/>
                </a:lnTo>
                <a:lnTo>
                  <a:pt x="4958" y="152400"/>
                </a:lnTo>
                <a:lnTo>
                  <a:pt x="2212" y="101600"/>
                </a:lnTo>
                <a:lnTo>
                  <a:pt x="555" y="50800"/>
                </a:lnTo>
                <a:lnTo>
                  <a:pt x="0" y="0"/>
                </a:lnTo>
                <a:lnTo>
                  <a:pt x="2020824" y="0"/>
                </a:lnTo>
                <a:lnTo>
                  <a:pt x="2020824" y="2057400"/>
                </a:lnTo>
                <a:close/>
              </a:path>
            </a:pathLst>
          </a:custGeom>
          <a:solidFill>
            <a:srgbClr val="6495ED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C4481-A456-CA6C-850F-CB51D03E9632}"/>
              </a:ext>
            </a:extLst>
          </p:cNvPr>
          <p:cNvSpPr txBox="1"/>
          <p:nvPr/>
        </p:nvSpPr>
        <p:spPr>
          <a:xfrm>
            <a:off x="381000" y="1371600"/>
            <a:ext cx="5943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Using </a:t>
            </a:r>
            <a:r>
              <a:rPr lang="en-US" b="1" dirty="0" err="1">
                <a:latin typeface="Courier New" panose="02070309020205020404" pitchFamily="49" charset="0"/>
              </a:rPr>
              <a:t>printStackTrace</a:t>
            </a:r>
            <a:r>
              <a:rPr lang="en-US" b="1" dirty="0">
                <a:latin typeface="Courier New" panose="02070309020205020404" pitchFamily="49" charset="0"/>
              </a:rPr>
              <a:t>()</a:t>
            </a:r>
            <a:endParaRPr lang="en-US" b="1" dirty="0"/>
          </a:p>
          <a:p>
            <a:pPr>
              <a:buNone/>
            </a:pPr>
            <a:r>
              <a:rPr lang="en-US" dirty="0"/>
              <a:t>Prints the </a:t>
            </a:r>
            <a:r>
              <a:rPr lang="en-US" b="1" dirty="0"/>
              <a:t>full stack trace</a:t>
            </a:r>
            <a:r>
              <a:rPr lang="en-US" dirty="0"/>
              <a:t>, showing exactly where the exception occurred in the code.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try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int a = 10 / 0;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 catch (</a:t>
            </a:r>
            <a:r>
              <a:rPr lang="en-US" dirty="0" err="1">
                <a:latin typeface="Courier New" panose="02070309020205020404" pitchFamily="49" charset="0"/>
              </a:rPr>
              <a:t>ArithmeticException</a:t>
            </a:r>
            <a:r>
              <a:rPr lang="en-US" dirty="0">
                <a:latin typeface="Courier New" panose="02070309020205020404" pitchFamily="49" charset="0"/>
              </a:rPr>
              <a:t> e)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e.printStackTrace</a:t>
            </a:r>
            <a:r>
              <a:rPr lang="en-US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java.lang.ArithmeticException</a:t>
            </a:r>
            <a:r>
              <a:rPr lang="en-US" dirty="0">
                <a:latin typeface="Courier New" panose="02070309020205020404" pitchFamily="49" charset="0"/>
              </a:rPr>
              <a:t>: / by zero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at </a:t>
            </a:r>
            <a:r>
              <a:rPr lang="en-US" dirty="0" err="1">
                <a:latin typeface="Courier New" panose="02070309020205020404" pitchFamily="49" charset="0"/>
              </a:rPr>
              <a:t>Main.main</a:t>
            </a:r>
            <a:r>
              <a:rPr lang="en-US" dirty="0">
                <a:latin typeface="Courier New" panose="02070309020205020404" pitchFamily="49" charset="0"/>
              </a:rPr>
              <a:t>(Main.java:4)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2110D-3DC3-EB87-64C7-20FEFA51F5D8}"/>
              </a:ext>
            </a:extLst>
          </p:cNvPr>
          <p:cNvSpPr txBox="1"/>
          <p:nvPr/>
        </p:nvSpPr>
        <p:spPr>
          <a:xfrm>
            <a:off x="5968181" y="2209800"/>
            <a:ext cx="5943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Custom Message with Exception</a:t>
            </a:r>
          </a:p>
          <a:p>
            <a:pPr>
              <a:buNone/>
            </a:pPr>
            <a:r>
              <a:rPr lang="en-US" dirty="0"/>
              <a:t>You can combine your own message with exception info for clarity.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try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int a = 10 / 0;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 catch (</a:t>
            </a:r>
            <a:r>
              <a:rPr lang="en-US" dirty="0" err="1">
                <a:latin typeface="Courier New" panose="02070309020205020404" pitchFamily="49" charset="0"/>
              </a:rPr>
              <a:t>ArithmeticException</a:t>
            </a:r>
            <a:r>
              <a:rPr lang="en-US" dirty="0">
                <a:latin typeface="Courier New" panose="02070309020205020404" pitchFamily="49" charset="0"/>
              </a:rPr>
              <a:t> e) 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("Something went wrong! " + e);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b="1" dirty="0"/>
              <a:t>Output: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Something went wrong! </a:t>
            </a:r>
            <a:r>
              <a:rPr lang="en-US" dirty="0" err="1">
                <a:latin typeface="Courier New" panose="02070309020205020404" pitchFamily="49" charset="0"/>
              </a:rPr>
              <a:t>java.lang.ArithmeticException</a:t>
            </a:r>
            <a:r>
              <a:rPr lang="en-US" dirty="0">
                <a:latin typeface="Courier New" panose="02070309020205020404" pitchFamily="49" charset="0"/>
              </a:rPr>
              <a:t>: / by zero</a:t>
            </a:r>
          </a:p>
        </p:txBody>
      </p:sp>
    </p:spTree>
    <p:extLst>
      <p:ext uri="{BB962C8B-B14F-4D97-AF65-F5344CB8AC3E}">
        <p14:creationId xmlns:p14="http://schemas.microsoft.com/office/powerpoint/2010/main" val="1624440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2895600"/>
            <a:ext cx="35750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70" dirty="0"/>
              <a:t>Thank</a:t>
            </a:r>
            <a:r>
              <a:rPr sz="4800" spc="-550" dirty="0"/>
              <a:t> </a:t>
            </a:r>
            <a:r>
              <a:rPr sz="4800" spc="-60" dirty="0"/>
              <a:t>You!</a:t>
            </a:r>
            <a:endParaRPr sz="4800" dirty="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361565" cy="1377315"/>
          </a:xfrm>
          <a:custGeom>
            <a:avLst/>
            <a:gdLst/>
            <a:ahLst/>
            <a:cxnLst/>
            <a:rect l="l" t="t" r="r" b="b"/>
            <a:pathLst>
              <a:path w="2361565" h="1377315">
                <a:moveTo>
                  <a:pt x="342825" y="1346846"/>
                </a:moveTo>
                <a:lnTo>
                  <a:pt x="231198" y="1356612"/>
                </a:lnTo>
                <a:lnTo>
                  <a:pt x="0" y="1356612"/>
                </a:lnTo>
                <a:lnTo>
                  <a:pt x="0" y="0"/>
                </a:lnTo>
                <a:lnTo>
                  <a:pt x="2361070" y="0"/>
                </a:lnTo>
                <a:lnTo>
                  <a:pt x="2359671" y="10412"/>
                </a:lnTo>
                <a:lnTo>
                  <a:pt x="2353121" y="35812"/>
                </a:lnTo>
                <a:lnTo>
                  <a:pt x="2345161" y="73912"/>
                </a:lnTo>
                <a:lnTo>
                  <a:pt x="2335808" y="112012"/>
                </a:lnTo>
                <a:lnTo>
                  <a:pt x="2325080" y="137412"/>
                </a:lnTo>
                <a:lnTo>
                  <a:pt x="2312993" y="175512"/>
                </a:lnTo>
                <a:lnTo>
                  <a:pt x="2299564" y="213612"/>
                </a:lnTo>
                <a:lnTo>
                  <a:pt x="2284811" y="239012"/>
                </a:lnTo>
                <a:lnTo>
                  <a:pt x="2268752" y="277112"/>
                </a:lnTo>
                <a:lnTo>
                  <a:pt x="2251403" y="302512"/>
                </a:lnTo>
                <a:lnTo>
                  <a:pt x="2232781" y="340612"/>
                </a:lnTo>
                <a:lnTo>
                  <a:pt x="2212904" y="366012"/>
                </a:lnTo>
                <a:lnTo>
                  <a:pt x="2191788" y="404112"/>
                </a:lnTo>
                <a:lnTo>
                  <a:pt x="2169452" y="429512"/>
                </a:lnTo>
                <a:lnTo>
                  <a:pt x="2145912" y="467612"/>
                </a:lnTo>
                <a:lnTo>
                  <a:pt x="2121185" y="493012"/>
                </a:lnTo>
                <a:lnTo>
                  <a:pt x="2095289" y="531112"/>
                </a:lnTo>
                <a:lnTo>
                  <a:pt x="2068241" y="556512"/>
                </a:lnTo>
                <a:lnTo>
                  <a:pt x="2040058" y="581912"/>
                </a:lnTo>
                <a:lnTo>
                  <a:pt x="2010756" y="620012"/>
                </a:lnTo>
                <a:lnTo>
                  <a:pt x="1980355" y="645412"/>
                </a:lnTo>
                <a:lnTo>
                  <a:pt x="1948870" y="670812"/>
                </a:lnTo>
                <a:lnTo>
                  <a:pt x="1916319" y="696212"/>
                </a:lnTo>
                <a:lnTo>
                  <a:pt x="1882718" y="734312"/>
                </a:lnTo>
                <a:lnTo>
                  <a:pt x="1848086" y="759712"/>
                </a:lnTo>
                <a:lnTo>
                  <a:pt x="1812440" y="785112"/>
                </a:lnTo>
                <a:lnTo>
                  <a:pt x="1775796" y="810512"/>
                </a:lnTo>
                <a:lnTo>
                  <a:pt x="1738171" y="835912"/>
                </a:lnTo>
                <a:lnTo>
                  <a:pt x="1699584" y="861312"/>
                </a:lnTo>
                <a:lnTo>
                  <a:pt x="1660051" y="886712"/>
                </a:lnTo>
                <a:lnTo>
                  <a:pt x="1619589" y="912112"/>
                </a:lnTo>
                <a:lnTo>
                  <a:pt x="1578216" y="937512"/>
                </a:lnTo>
                <a:lnTo>
                  <a:pt x="1535949" y="962912"/>
                </a:lnTo>
                <a:lnTo>
                  <a:pt x="1492804" y="988312"/>
                </a:lnTo>
                <a:lnTo>
                  <a:pt x="1448800" y="1013712"/>
                </a:lnTo>
                <a:lnTo>
                  <a:pt x="1403953" y="1026412"/>
                </a:lnTo>
                <a:lnTo>
                  <a:pt x="1311800" y="1077212"/>
                </a:lnTo>
                <a:lnTo>
                  <a:pt x="1264528" y="1089912"/>
                </a:lnTo>
                <a:lnTo>
                  <a:pt x="1216482" y="1115312"/>
                </a:lnTo>
                <a:lnTo>
                  <a:pt x="1167680" y="1128012"/>
                </a:lnTo>
                <a:lnTo>
                  <a:pt x="1118138" y="1153412"/>
                </a:lnTo>
                <a:lnTo>
                  <a:pt x="1067874" y="1166112"/>
                </a:lnTo>
                <a:lnTo>
                  <a:pt x="1016905" y="1191512"/>
                </a:lnTo>
                <a:lnTo>
                  <a:pt x="912921" y="1216912"/>
                </a:lnTo>
                <a:lnTo>
                  <a:pt x="859940" y="1242312"/>
                </a:lnTo>
                <a:lnTo>
                  <a:pt x="507751" y="1323065"/>
                </a:lnTo>
                <a:lnTo>
                  <a:pt x="414629" y="1331212"/>
                </a:lnTo>
                <a:lnTo>
                  <a:pt x="342825" y="1346846"/>
                </a:lnTo>
                <a:close/>
              </a:path>
              <a:path w="2361565" h="1377315">
                <a:moveTo>
                  <a:pt x="231198" y="1356612"/>
                </a:moveTo>
                <a:lnTo>
                  <a:pt x="86037" y="1369312"/>
                </a:lnTo>
                <a:lnTo>
                  <a:pt x="0" y="1369312"/>
                </a:lnTo>
                <a:lnTo>
                  <a:pt x="0" y="1356612"/>
                </a:lnTo>
                <a:lnTo>
                  <a:pt x="231198" y="1356612"/>
                </a:lnTo>
                <a:close/>
              </a:path>
              <a:path w="2361565" h="1377315">
                <a:moveTo>
                  <a:pt x="472219" y="1331212"/>
                </a:moveTo>
                <a:lnTo>
                  <a:pt x="414629" y="1331212"/>
                </a:lnTo>
                <a:lnTo>
                  <a:pt x="507751" y="1323065"/>
                </a:lnTo>
                <a:lnTo>
                  <a:pt x="472219" y="1331212"/>
                </a:lnTo>
                <a:close/>
              </a:path>
              <a:path w="2361565" h="1377315">
                <a:moveTo>
                  <a:pt x="86037" y="1369312"/>
                </a:moveTo>
                <a:lnTo>
                  <a:pt x="0" y="1376839"/>
                </a:lnTo>
                <a:lnTo>
                  <a:pt x="0" y="1369312"/>
                </a:lnTo>
                <a:lnTo>
                  <a:pt x="86037" y="1369312"/>
                </a:lnTo>
                <a:close/>
              </a:path>
            </a:pathLst>
          </a:custGeom>
          <a:solidFill>
            <a:srgbClr val="90ED90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15400" y="5143500"/>
            <a:ext cx="2971800" cy="1714500"/>
          </a:xfrm>
          <a:custGeom>
            <a:avLst/>
            <a:gdLst/>
            <a:ahLst/>
            <a:cxnLst/>
            <a:rect l="l" t="t" r="r" b="b"/>
            <a:pathLst>
              <a:path w="2971800" h="1714500">
                <a:moveTo>
                  <a:pt x="2971800" y="1714500"/>
                </a:moveTo>
                <a:lnTo>
                  <a:pt x="0" y="1714500"/>
                </a:lnTo>
                <a:lnTo>
                  <a:pt x="0" y="0"/>
                </a:lnTo>
                <a:lnTo>
                  <a:pt x="2971800" y="0"/>
                </a:lnTo>
                <a:lnTo>
                  <a:pt x="2971800" y="1714500"/>
                </a:lnTo>
                <a:close/>
              </a:path>
            </a:pathLst>
          </a:custGeom>
          <a:solidFill>
            <a:srgbClr val="FF69B3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1772</Words>
  <Application>Microsoft Office PowerPoint</Application>
  <PresentationFormat>Custom</PresentationFormat>
  <Paragraphs>282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Courier New</vt:lpstr>
      <vt:lpstr>Lucida Sans Unicode</vt:lpstr>
      <vt:lpstr>Office Theme</vt:lpstr>
      <vt:lpstr>Module 1 — Foundations</vt:lpstr>
      <vt:lpstr>Table of Contents</vt:lpstr>
      <vt:lpstr>What is an Exception?</vt:lpstr>
      <vt:lpstr>Types of Exceptions in Java</vt:lpstr>
      <vt:lpstr>Types of Exceptions in Java</vt:lpstr>
      <vt:lpstr>Exception Hierarchy</vt:lpstr>
      <vt:lpstr>Exception Hierarchy</vt:lpstr>
      <vt:lpstr>What is Exception Handling?</vt:lpstr>
      <vt:lpstr>Call Stack and Propagation</vt:lpstr>
      <vt:lpstr>Call Stack and Propagation</vt:lpstr>
      <vt:lpstr>Call Stack and Propagation</vt:lpstr>
      <vt:lpstr>Exception Handling Keywords</vt:lpstr>
      <vt:lpstr>Try and  catch block</vt:lpstr>
      <vt:lpstr>Try and  catch block</vt:lpstr>
      <vt:lpstr>Try , catch and finally block</vt:lpstr>
      <vt:lpstr>Example: Division with Exception Handling</vt:lpstr>
      <vt:lpstr>Example: Accessing an Invalid Array Index</vt:lpstr>
      <vt:lpstr>Multiple try-catch blocks</vt:lpstr>
      <vt:lpstr>Multiple try-catch blocks</vt:lpstr>
      <vt:lpstr>Print Exception Information</vt:lpstr>
      <vt:lpstr>Print Exception Information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&lt;p&gt;Module 1 — Foundations&lt;/p&gt;
</dc:title>
  <cp:lastModifiedBy>Lenovo</cp:lastModifiedBy>
  <cp:revision>21</cp:revision>
  <dcterms:created xsi:type="dcterms:W3CDTF">2025-11-11T04:45:32Z</dcterms:created>
  <dcterms:modified xsi:type="dcterms:W3CDTF">2025-11-11T12:14:16Z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Producer">
    <vt:lpwstr>WeasyPrint 66.0</vt:lpwstr>
  </property>
  <property fmtid="{D5CDD505-2E9C-101B-9397-08002B2CF9AE}" pid="4" name="LastSaved">
    <vt:filetime>2025-11-11T00:00:00Z</vt:filetime>
  </property>
</Properties>
</file>