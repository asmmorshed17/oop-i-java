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86" r:id="rId10"/>
    <p:sldId id="28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0" r:id="rId22"/>
    <p:sldId id="282" r:id="rId23"/>
    <p:sldId id="283" r:id="rId24"/>
    <p:sldId id="284" r:id="rId25"/>
    <p:sldId id="285" r:id="rId26"/>
    <p:sldId id="288" r:id="rId27"/>
    <p:sldId id="289" r:id="rId28"/>
    <p:sldId id="25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265" r:id="rId46"/>
  </p:sldIdLst>
  <p:sldSz cx="11887200" cy="6858000"/>
  <p:notesSz cx="118872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58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540" y="2125980"/>
            <a:ext cx="1010412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83080" y="3840480"/>
            <a:ext cx="832104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4360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21908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1445516"/>
            <a:ext cx="1021969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59" y="2220844"/>
            <a:ext cx="10616565" cy="236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41648" y="6377940"/>
            <a:ext cx="38039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94360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08-Jan-26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58784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876556"/>
            <a:ext cx="9297035" cy="11455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20"/>
              </a:spcBef>
            </a:pPr>
            <a:r>
              <a:rPr spc="-110" dirty="0"/>
              <a:t>Module:</a:t>
            </a:r>
            <a:r>
              <a:rPr spc="-395" dirty="0"/>
              <a:t> </a:t>
            </a:r>
            <a:r>
              <a:rPr spc="-110" dirty="0"/>
              <a:t>Abstraction</a:t>
            </a:r>
            <a:r>
              <a:rPr spc="-395" dirty="0"/>
              <a:t> </a:t>
            </a:r>
            <a:r>
              <a:rPr spc="-80" dirty="0"/>
              <a:t>in</a:t>
            </a:r>
            <a:r>
              <a:rPr spc="-390" dirty="0"/>
              <a:t> </a:t>
            </a:r>
            <a:r>
              <a:rPr spc="-70" dirty="0"/>
              <a:t>Object-</a:t>
            </a:r>
            <a:r>
              <a:rPr spc="-10" dirty="0"/>
              <a:t>Oriented 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2223384"/>
            <a:ext cx="1008316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100"/>
              </a:lnSpc>
              <a:spcBef>
                <a:spcPts val="90"/>
              </a:spcBef>
            </a:pP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A</a:t>
            </a:r>
            <a:r>
              <a:rPr sz="140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666666"/>
                </a:solidFill>
                <a:latin typeface="Lucida Sans Unicode"/>
                <a:cs typeface="Lucida Sans Unicode"/>
              </a:rPr>
              <a:t>comprehensive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666666"/>
                </a:solidFill>
                <a:latin typeface="Lucida Sans Unicode"/>
                <a:cs typeface="Lucida Sans Unicode"/>
              </a:rPr>
              <a:t>overview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of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666666"/>
                </a:solidFill>
                <a:latin typeface="Lucida Sans Unicode"/>
                <a:cs typeface="Lucida Sans Unicode"/>
              </a:rPr>
              <a:t>abstraction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666666"/>
                </a:solidFill>
                <a:latin typeface="Lucida Sans Unicode"/>
                <a:cs typeface="Lucida Sans Unicode"/>
              </a:rPr>
              <a:t>concepts,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implementation,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105" dirty="0">
                <a:solidFill>
                  <a:srgbClr val="666666"/>
                </a:solidFill>
                <a:latin typeface="Lucida Sans Unicode"/>
                <a:cs typeface="Lucida Sans Unicode"/>
              </a:rPr>
              <a:t>and</a:t>
            </a:r>
            <a:r>
              <a:rPr sz="140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66666"/>
                </a:solidFill>
                <a:latin typeface="Lucida Sans Unicode"/>
                <a:cs typeface="Lucida Sans Unicode"/>
              </a:rPr>
              <a:t>design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principles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in</a:t>
            </a:r>
            <a:r>
              <a:rPr sz="1400" spc="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Lucida Sans Unicode"/>
                <a:cs typeface="Lucida Sans Unicode"/>
              </a:rPr>
              <a:t>Object-</a:t>
            </a:r>
            <a:r>
              <a:rPr sz="1400" spc="-10" dirty="0">
                <a:solidFill>
                  <a:srgbClr val="666666"/>
                </a:solidFill>
                <a:latin typeface="Lucida Sans Unicode"/>
                <a:cs typeface="Lucida Sans Unicode"/>
              </a:rPr>
              <a:t>Oriented Programming.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867918"/>
            <a:ext cx="32308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Table</a:t>
            </a:r>
            <a:r>
              <a:rPr sz="2800" spc="-330" dirty="0"/>
              <a:t> </a:t>
            </a:r>
            <a:r>
              <a:rPr sz="2800" spc="-95" dirty="0"/>
              <a:t>of</a:t>
            </a:r>
            <a:r>
              <a:rPr sz="2800" spc="-325" dirty="0"/>
              <a:t> </a:t>
            </a:r>
            <a:r>
              <a:rPr sz="2800" spc="-60" dirty="0"/>
              <a:t>Contents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1659" y="1715419"/>
            <a:ext cx="249047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spc="-794" baseline="-12345" dirty="0">
                <a:solidFill>
                  <a:srgbClr val="878787"/>
                </a:solidFill>
                <a:latin typeface="Arial Black"/>
                <a:cs typeface="Arial Black"/>
              </a:rPr>
              <a:t>1</a:t>
            </a:r>
            <a:r>
              <a:rPr sz="2700" spc="509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Overview</a:t>
            </a:r>
            <a:r>
              <a:rPr sz="1400" spc="-15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of</a:t>
            </a:r>
            <a:r>
              <a:rPr sz="1400" spc="-15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Abstraction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9659" y="1715419"/>
            <a:ext cx="222948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2</a:t>
            </a:r>
            <a:r>
              <a:rPr sz="2700" spc="262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666666"/>
                </a:solidFill>
                <a:latin typeface="Arial Black"/>
                <a:cs typeface="Arial Black"/>
              </a:rPr>
              <a:t>Levels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of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Abstraction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9559" y="1589669"/>
            <a:ext cx="2853055" cy="172529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02895" marR="43180" indent="-252729">
              <a:lnSpc>
                <a:spcPct val="125200"/>
              </a:lnSpc>
              <a:spcBef>
                <a:spcPts val="185"/>
              </a:spcBef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3</a:t>
            </a:r>
            <a:r>
              <a:rPr sz="2700" spc="262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Implementing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666666"/>
                </a:solidFill>
                <a:latin typeface="Arial Black"/>
                <a:cs typeface="Arial Black"/>
              </a:rPr>
              <a:t>Abstraction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in</a:t>
            </a:r>
            <a:r>
              <a:rPr sz="1400" spc="-16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Programming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Arial Black"/>
              <a:cs typeface="Arial Black"/>
            </a:endParaRPr>
          </a:p>
          <a:p>
            <a:pPr marL="310515" marR="159385" indent="-260350">
              <a:lnSpc>
                <a:spcPct val="125200"/>
              </a:lnSpc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6</a:t>
            </a:r>
            <a:r>
              <a:rPr sz="2700" spc="487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Design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666666"/>
                </a:solidFill>
                <a:latin typeface="Arial Black"/>
                <a:cs typeface="Arial Black"/>
              </a:rPr>
              <a:t>Principles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Related </a:t>
            </a:r>
            <a:r>
              <a:rPr sz="1400" spc="-40" dirty="0">
                <a:solidFill>
                  <a:srgbClr val="666666"/>
                </a:solidFill>
                <a:latin typeface="Arial Black"/>
                <a:cs typeface="Arial Black"/>
              </a:rPr>
              <a:t>to</a:t>
            </a:r>
            <a:r>
              <a:rPr sz="1400" spc="-15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Abstraction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659" y="2776885"/>
            <a:ext cx="282892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4</a:t>
            </a:r>
            <a:r>
              <a:rPr sz="2700" spc="457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Advantages</a:t>
            </a:r>
            <a:r>
              <a:rPr sz="1400" spc="-16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of</a:t>
            </a:r>
            <a:r>
              <a:rPr sz="1400" spc="-16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Abstraction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4259" y="2651135"/>
            <a:ext cx="2300605" cy="6635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00355" marR="30480" indent="-262890">
              <a:lnSpc>
                <a:spcPct val="125200"/>
              </a:lnSpc>
              <a:spcBef>
                <a:spcPts val="185"/>
              </a:spcBef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5</a:t>
            </a:r>
            <a:r>
              <a:rPr sz="2700" spc="487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Abstraction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in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Java</a:t>
            </a:r>
            <a:r>
              <a:rPr sz="1400" spc="-15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210" dirty="0">
                <a:solidFill>
                  <a:srgbClr val="666666"/>
                </a:solidFill>
                <a:latin typeface="Arial Black"/>
                <a:cs typeface="Arial Black"/>
              </a:rPr>
              <a:t>/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Python</a:t>
            </a:r>
            <a:r>
              <a:rPr sz="1400" spc="-16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260" dirty="0">
                <a:solidFill>
                  <a:srgbClr val="666666"/>
                </a:solidFill>
                <a:latin typeface="Arial Black"/>
                <a:cs typeface="Arial Black"/>
              </a:rPr>
              <a:t>/</a:t>
            </a:r>
            <a:r>
              <a:rPr sz="1400" spc="-16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C++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259" y="3712600"/>
            <a:ext cx="2324735" cy="6635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74320" marR="30480" indent="-236854">
              <a:lnSpc>
                <a:spcPct val="125200"/>
              </a:lnSpc>
              <a:spcBef>
                <a:spcPts val="185"/>
              </a:spcBef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7</a:t>
            </a:r>
            <a:r>
              <a:rPr sz="2700" spc="195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Case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Study: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Applying Abstraction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2361565" cy="1377315"/>
          </a:xfrm>
          <a:custGeom>
            <a:avLst/>
            <a:gdLst/>
            <a:ahLst/>
            <a:cxnLst/>
            <a:rect l="l" t="t" r="r" b="b"/>
            <a:pathLst>
              <a:path w="2361565" h="1377315">
                <a:moveTo>
                  <a:pt x="342825" y="1346846"/>
                </a:moveTo>
                <a:lnTo>
                  <a:pt x="231198" y="1356612"/>
                </a:lnTo>
                <a:lnTo>
                  <a:pt x="0" y="1356612"/>
                </a:lnTo>
                <a:lnTo>
                  <a:pt x="0" y="0"/>
                </a:lnTo>
                <a:lnTo>
                  <a:pt x="2361070" y="0"/>
                </a:lnTo>
                <a:lnTo>
                  <a:pt x="2359671" y="10412"/>
                </a:lnTo>
                <a:lnTo>
                  <a:pt x="2353121" y="35812"/>
                </a:lnTo>
                <a:lnTo>
                  <a:pt x="2345161" y="73912"/>
                </a:lnTo>
                <a:lnTo>
                  <a:pt x="2335808" y="112012"/>
                </a:lnTo>
                <a:lnTo>
                  <a:pt x="2325080" y="137412"/>
                </a:lnTo>
                <a:lnTo>
                  <a:pt x="2312993" y="175512"/>
                </a:lnTo>
                <a:lnTo>
                  <a:pt x="2299564" y="213612"/>
                </a:lnTo>
                <a:lnTo>
                  <a:pt x="2284811" y="239012"/>
                </a:lnTo>
                <a:lnTo>
                  <a:pt x="2268752" y="277112"/>
                </a:lnTo>
                <a:lnTo>
                  <a:pt x="2251403" y="302512"/>
                </a:lnTo>
                <a:lnTo>
                  <a:pt x="2232781" y="340612"/>
                </a:lnTo>
                <a:lnTo>
                  <a:pt x="2212904" y="366012"/>
                </a:lnTo>
                <a:lnTo>
                  <a:pt x="2191788" y="404112"/>
                </a:lnTo>
                <a:lnTo>
                  <a:pt x="2169452" y="429512"/>
                </a:lnTo>
                <a:lnTo>
                  <a:pt x="2145912" y="467612"/>
                </a:lnTo>
                <a:lnTo>
                  <a:pt x="2121185" y="493012"/>
                </a:lnTo>
                <a:lnTo>
                  <a:pt x="2095289" y="531112"/>
                </a:lnTo>
                <a:lnTo>
                  <a:pt x="2068241" y="556512"/>
                </a:lnTo>
                <a:lnTo>
                  <a:pt x="2040058" y="581912"/>
                </a:lnTo>
                <a:lnTo>
                  <a:pt x="2010756" y="620012"/>
                </a:lnTo>
                <a:lnTo>
                  <a:pt x="1980355" y="645412"/>
                </a:lnTo>
                <a:lnTo>
                  <a:pt x="1948870" y="670812"/>
                </a:lnTo>
                <a:lnTo>
                  <a:pt x="1916319" y="696212"/>
                </a:lnTo>
                <a:lnTo>
                  <a:pt x="1882718" y="734312"/>
                </a:lnTo>
                <a:lnTo>
                  <a:pt x="1848086" y="759712"/>
                </a:lnTo>
                <a:lnTo>
                  <a:pt x="1812440" y="785112"/>
                </a:lnTo>
                <a:lnTo>
                  <a:pt x="1775796" y="810512"/>
                </a:lnTo>
                <a:lnTo>
                  <a:pt x="1738171" y="835912"/>
                </a:lnTo>
                <a:lnTo>
                  <a:pt x="1699584" y="861312"/>
                </a:lnTo>
                <a:lnTo>
                  <a:pt x="1660051" y="886712"/>
                </a:lnTo>
                <a:lnTo>
                  <a:pt x="1619589" y="912112"/>
                </a:lnTo>
                <a:lnTo>
                  <a:pt x="1578216" y="937512"/>
                </a:lnTo>
                <a:lnTo>
                  <a:pt x="1535949" y="962912"/>
                </a:lnTo>
                <a:lnTo>
                  <a:pt x="1492804" y="988312"/>
                </a:lnTo>
                <a:lnTo>
                  <a:pt x="1448800" y="1013712"/>
                </a:lnTo>
                <a:lnTo>
                  <a:pt x="1403953" y="1026412"/>
                </a:lnTo>
                <a:lnTo>
                  <a:pt x="1311800" y="1077212"/>
                </a:lnTo>
                <a:lnTo>
                  <a:pt x="1264528" y="1089912"/>
                </a:lnTo>
                <a:lnTo>
                  <a:pt x="1216482" y="1115312"/>
                </a:lnTo>
                <a:lnTo>
                  <a:pt x="1167680" y="1128012"/>
                </a:lnTo>
                <a:lnTo>
                  <a:pt x="1118138" y="1153412"/>
                </a:lnTo>
                <a:lnTo>
                  <a:pt x="1067874" y="1166112"/>
                </a:lnTo>
                <a:lnTo>
                  <a:pt x="1016905" y="1191512"/>
                </a:lnTo>
                <a:lnTo>
                  <a:pt x="912921" y="1216912"/>
                </a:lnTo>
                <a:lnTo>
                  <a:pt x="859940" y="1242312"/>
                </a:lnTo>
                <a:lnTo>
                  <a:pt x="507751" y="1323065"/>
                </a:lnTo>
                <a:lnTo>
                  <a:pt x="414629" y="1331212"/>
                </a:lnTo>
                <a:lnTo>
                  <a:pt x="342825" y="1346846"/>
                </a:lnTo>
                <a:close/>
              </a:path>
              <a:path w="2361565" h="1377315">
                <a:moveTo>
                  <a:pt x="231198" y="1356612"/>
                </a:moveTo>
                <a:lnTo>
                  <a:pt x="86037" y="1369312"/>
                </a:lnTo>
                <a:lnTo>
                  <a:pt x="0" y="1369312"/>
                </a:lnTo>
                <a:lnTo>
                  <a:pt x="0" y="1356612"/>
                </a:lnTo>
                <a:lnTo>
                  <a:pt x="231198" y="1356612"/>
                </a:lnTo>
                <a:close/>
              </a:path>
              <a:path w="2361565" h="1377315">
                <a:moveTo>
                  <a:pt x="472219" y="1331212"/>
                </a:moveTo>
                <a:lnTo>
                  <a:pt x="414629" y="1331212"/>
                </a:lnTo>
                <a:lnTo>
                  <a:pt x="507751" y="1323065"/>
                </a:lnTo>
                <a:lnTo>
                  <a:pt x="472219" y="1331212"/>
                </a:lnTo>
                <a:close/>
              </a:path>
              <a:path w="2361565" h="1377315">
                <a:moveTo>
                  <a:pt x="86037" y="1369312"/>
                </a:moveTo>
                <a:lnTo>
                  <a:pt x="0" y="1376839"/>
                </a:lnTo>
                <a:lnTo>
                  <a:pt x="0" y="1369312"/>
                </a:lnTo>
                <a:lnTo>
                  <a:pt x="86037" y="1369312"/>
                </a:lnTo>
                <a:close/>
              </a:path>
            </a:pathLst>
          </a:custGeom>
          <a:solidFill>
            <a:srgbClr val="90ED9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684" y="809264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14" dirty="0"/>
              <a:t>Definition</a:t>
            </a:r>
            <a:r>
              <a:rPr spc="-434" dirty="0"/>
              <a:t> </a:t>
            </a:r>
            <a:r>
              <a:rPr spc="-120" dirty="0"/>
              <a:t>of</a:t>
            </a:r>
            <a:r>
              <a:rPr spc="-434" dirty="0"/>
              <a:t> </a:t>
            </a:r>
            <a:r>
              <a:rPr spc="-95" dirty="0"/>
              <a:t>Abstraction</a:t>
            </a:r>
          </a:p>
        </p:txBody>
      </p:sp>
      <p:sp>
        <p:nvSpPr>
          <p:cNvPr id="6" name="object 6"/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3028CC-CAA0-9C21-3761-37C634CEA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413" y="1978950"/>
            <a:ext cx="10616565" cy="830997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Abstraction is the process of hiding complex implementation details and showing only the essential features of an object or system to the user.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8B6B6-AD5F-5B02-AB8C-04F874119E64}"/>
              </a:ext>
            </a:extLst>
          </p:cNvPr>
          <p:cNvSpPr txBox="1"/>
          <p:nvPr/>
        </p:nvSpPr>
        <p:spPr>
          <a:xfrm>
            <a:off x="223684" y="3200400"/>
            <a:ext cx="99109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i="1" dirty="0"/>
              <a:t>what</a:t>
            </a:r>
            <a:r>
              <a:rPr lang="en-US" dirty="0"/>
              <a:t> an object does rather than </a:t>
            </a:r>
            <a:r>
              <a:rPr lang="en-US" i="1" dirty="0"/>
              <a:t>how</a:t>
            </a:r>
            <a:r>
              <a:rPr lang="en-US" dirty="0"/>
              <a:t> it does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Simplifies complex systems by breaking them into smaller, more manageable parts.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cleaner, more understandable code.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When you drive a car, you use the steering wheel and pedals without knowing how the engine or brakes work internally — this is abstraction in real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C9AD24-500F-EA62-0E24-5889B3E7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8C03196-DC5F-F3A8-B50E-58E1EB182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14" dirty="0"/>
              <a:t>Importance </a:t>
            </a:r>
            <a:r>
              <a:rPr spc="-434" dirty="0"/>
              <a:t> </a:t>
            </a:r>
            <a:r>
              <a:rPr spc="-120" dirty="0"/>
              <a:t>of</a:t>
            </a:r>
            <a:r>
              <a:rPr spc="-434" dirty="0"/>
              <a:t> </a:t>
            </a:r>
            <a:r>
              <a:rPr spc="-95" dirty="0"/>
              <a:t>Abstraction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A8E64A8-CF6C-2419-F9EC-DC8D646A9947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3BD156-A59C-9516-B7D1-36FBF3FE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402" y="1524000"/>
            <a:ext cx="1013488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Complex Systems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modeling real-world entities into classes and objects, abstraction reduces the complexity of large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can focus on high-level functionality without worrying about implementation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Code Reusability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classes and interfaces define generic behaviors that can be reused across multiple implementations.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code duplication and promotes consistency in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Maintainability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abstraction separates the interface from the implementation, internal changes do not affect other parts of the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isolation makes debugging and updating the code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9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0E2B28-8CD3-4C0C-D881-66A0D09D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2BEA264-9D00-5A07-2EF5-B38092D65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14" dirty="0"/>
              <a:t>Importance </a:t>
            </a:r>
            <a:r>
              <a:rPr spc="-434" dirty="0"/>
              <a:t> </a:t>
            </a:r>
            <a:r>
              <a:rPr spc="-120" dirty="0"/>
              <a:t>of</a:t>
            </a:r>
            <a:r>
              <a:rPr spc="-434" dirty="0"/>
              <a:t> </a:t>
            </a:r>
            <a:r>
              <a:rPr spc="-95" dirty="0"/>
              <a:t>Abstraction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6B57A38-4689-0245-6C89-BFAAA807E42D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B8B51A-F6AD-6194-83E4-A83522B5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3841"/>
            <a:ext cx="8534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Modularity and Scalability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software systems can be divided into smaller, self-contained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module represents an abstract layer, making the system easier to extend or modify.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Security and Data Protection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implementation details remain hidden from external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necessary information and operations are exposed through well-defined interfaces.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Clearer Communication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 provides a shared understanding between designers, developers, and users through simplified representations (e.g., APIs, diagrams).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65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FAD1CC-1D01-6480-872B-AFBCD48D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2E66BE0-29A6-24F2-FD91-A9B4E17EE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102196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Difference Between Abstraction and Encapsulation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ECB6065-480B-AABF-230B-F1DC04B77E27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82D52-723D-8C73-199F-3E52824754CC}"/>
              </a:ext>
            </a:extLst>
          </p:cNvPr>
          <p:cNvSpPr txBox="1"/>
          <p:nvPr/>
        </p:nvSpPr>
        <p:spPr>
          <a:xfrm>
            <a:off x="228600" y="1600213"/>
            <a:ext cx="9677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Abstraction and encapsulation are closely related OOP concepts, but they serve different purposes in software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Abstraction</a:t>
            </a:r>
            <a:r>
              <a:rPr lang="en-US" dirty="0"/>
              <a:t> focuses on </a:t>
            </a:r>
            <a:r>
              <a:rPr lang="en-US" i="1" dirty="0"/>
              <a:t>hiding complexity</a:t>
            </a:r>
            <a:r>
              <a:rPr lang="en-US" dirty="0"/>
              <a:t> by exposing only essential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Encapsulation</a:t>
            </a:r>
            <a:r>
              <a:rPr lang="en-US" dirty="0"/>
              <a:t> focuses on </a:t>
            </a:r>
            <a:r>
              <a:rPr lang="en-US" i="1" dirty="0"/>
              <a:t>data protection</a:t>
            </a:r>
            <a:r>
              <a:rPr lang="en-US" dirty="0"/>
              <a:t> by bundling data and methods together within a class.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FA7F3-D181-2A2C-E4A5-C42FE3FA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073409"/>
              </p:ext>
            </p:extLst>
          </p:nvPr>
        </p:nvGraphicFramePr>
        <p:xfrm>
          <a:off x="457200" y="3050502"/>
          <a:ext cx="10591800" cy="34551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621548115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8549078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81622232"/>
                    </a:ext>
                  </a:extLst>
                </a:gridCol>
              </a:tblGrid>
              <a:tr h="28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Aspect</a:t>
                      </a:r>
                      <a:endParaRPr lang="en-US" sz="1600" dirty="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Abstraction</a:t>
                      </a:r>
                      <a:endParaRPr lang="en-US" sz="160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Encapsulation</a:t>
                      </a:r>
                      <a:endParaRPr lang="en-US" sz="1600"/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3816885372"/>
                  </a:ext>
                </a:extLst>
              </a:tr>
              <a:tr h="75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Definition</a:t>
                      </a:r>
                      <a:endParaRPr lang="en-US" sz="1600" dirty="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Process of hiding implementation details and showing only relevant information to the user.</a:t>
                      </a:r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Process of wrapping data (variables) and code (methods) together into a single unit (class).</a:t>
                      </a:r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3956017453"/>
                  </a:ext>
                </a:extLst>
              </a:tr>
              <a:tr h="51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Purpose</a:t>
                      </a:r>
                      <a:endParaRPr lang="en-US" sz="160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 reduce complexity and simplify the design.</a:t>
                      </a:r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 protect data and ensure controlled access.</a:t>
                      </a:r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2860166573"/>
                  </a:ext>
                </a:extLst>
              </a:tr>
              <a:tr h="51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Focus</a:t>
                      </a:r>
                      <a:endParaRPr lang="en-US" sz="160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Deals with what an object does.</a:t>
                      </a:r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Deals with how an object’s data is hidden and controlled.</a:t>
                      </a:r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243812497"/>
                  </a:ext>
                </a:extLst>
              </a:tr>
              <a:tr h="51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Implementation</a:t>
                      </a:r>
                      <a:endParaRPr lang="en-US" sz="1600" dirty="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Achieved using abstract classes and interfaces.</a:t>
                      </a:r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Achieved using access modifiers like private, public, protected.</a:t>
                      </a:r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2752114937"/>
                  </a:ext>
                </a:extLst>
              </a:tr>
              <a:tr h="753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</a:t>
                      </a:r>
                      <a:endParaRPr lang="en-US" sz="1600"/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User interacts with the “print()” method without knowing how it works internally.</a:t>
                      </a:r>
                    </a:p>
                  </a:txBody>
                  <a:tcPr marL="52599" marR="52599" marT="26300" marB="263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members of a class are kept private and accessed via getters/setters.</a:t>
                      </a:r>
                    </a:p>
                  </a:txBody>
                  <a:tcPr marL="52599" marR="52599" marT="26300" marB="26300" anchor="ctr"/>
                </a:tc>
                <a:extLst>
                  <a:ext uri="{0D108BD9-81ED-4DB2-BD59-A6C34878D82A}">
                    <a16:rowId xmlns:a16="http://schemas.microsoft.com/office/drawing/2014/main" val="308760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0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714D2D-B81B-A7FC-AC84-BB993F52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3237E30-7789-FF57-7033-6B6F2C081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 </a:t>
            </a:r>
            <a:r>
              <a:rPr spc="-95" dirty="0"/>
              <a:t>Abstraction</a:t>
            </a:r>
            <a:r>
              <a:rPr lang="en-US" spc="-95" dirty="0"/>
              <a:t> Example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342B852-6076-96E7-7FEB-5860B99FCEA7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59A0C-1688-5C5B-FDE5-16BAEE55C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0"/>
            <a:ext cx="87630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Coffee machine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press “Latte.” You don’t manage water temp, pump pressure, or grind size—the machine’s layers 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 pedals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 the accelerator. You don’t control fuel injection or motor torque curves—the car abstracts that into one pedal.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request “Withdraw 2,000.” The ATM hides account lookup, network auth, and cash cassette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app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“home → campus.” It hides graph search, traffic models, and tile rendering behind a simple route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 remote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+/– abstracts infrared codes, audio pipelines, and amplifier gain settings.</a:t>
            </a:r>
          </a:p>
        </p:txBody>
      </p:sp>
    </p:spTree>
    <p:extLst>
      <p:ext uri="{BB962C8B-B14F-4D97-AF65-F5344CB8AC3E}">
        <p14:creationId xmlns:p14="http://schemas.microsoft.com/office/powerpoint/2010/main" val="371746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085EEA-9740-A580-CD9F-1CAAFDDB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C677687-43E9-7C1E-9D5F-280430AE8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 </a:t>
            </a:r>
            <a:r>
              <a:rPr spc="-95" dirty="0"/>
              <a:t>Abstraction</a:t>
            </a:r>
            <a:r>
              <a:rPr lang="en-US" spc="-95" dirty="0"/>
              <a:t> Example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D36EE10-21AD-CE1B-F448-D2D87CDEC5BE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05870-0383-9DB0-A90E-43631FC56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78966"/>
            <a:ext cx="107442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Ride-sharing app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Tap “Request.” Pricing, driver dispatch, GPS routing, and payments are all hidden behind one button.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browser address bar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a URL. DNS lookup, TLS handshake, HTTP requests, decompression, and layout engines are abstracted away.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 system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see a “file.” Under the hood: blocks,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journals, wear-leveling—abstracted as open/read/write.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 (SQL)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* FROM users WHERE id=7; You don’t manage indexes, page caches, or join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Programming function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sort(numbers) hides the algorithm choice, swaps, and memory management. You just get a sorted list.</a:t>
            </a:r>
          </a:p>
        </p:txBody>
      </p:sp>
    </p:spTree>
    <p:extLst>
      <p:ext uri="{BB962C8B-B14F-4D97-AF65-F5344CB8AC3E}">
        <p14:creationId xmlns:p14="http://schemas.microsoft.com/office/powerpoint/2010/main" val="76954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1D3442-2C51-FE56-D9E5-D670B2F4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5C34136-EE67-BFCA-0C00-9984C66AB6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Achieving Abstraction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129813F-6CC7-CDF4-1A56-D0BDEA8F9AFD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4EC22-47DB-4327-7FBB-2080F953B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96632"/>
            <a:ext cx="10744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Abstraction in object-oriented programming can be achieved in </a:t>
            </a:r>
            <a:r>
              <a:rPr lang="en-US" b="1" dirty="0"/>
              <a:t>two ways</a:t>
            </a:r>
            <a:r>
              <a:rPr lang="en-US" dirty="0"/>
              <a:t>:</a:t>
            </a:r>
          </a:p>
          <a:p>
            <a:r>
              <a:rPr lang="en-US" b="1" dirty="0"/>
              <a:t>Abstract Classes</a:t>
            </a:r>
            <a:endParaRPr lang="en-US" dirty="0"/>
          </a:p>
          <a:p>
            <a:r>
              <a:rPr lang="en-US" b="1" dirty="0"/>
              <a:t>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58111-792B-24F9-913A-60CC980F24FA}"/>
              </a:ext>
            </a:extLst>
          </p:cNvPr>
          <p:cNvSpPr txBox="1"/>
          <p:nvPr/>
        </p:nvSpPr>
        <p:spPr>
          <a:xfrm>
            <a:off x="228600" y="2510203"/>
            <a:ext cx="56904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Abstract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Declared using the keyword </a:t>
            </a:r>
            <a:r>
              <a:rPr lang="en-US" dirty="0">
                <a:latin typeface="Courier New" panose="02070309020205020404" pitchFamily="49" charset="0"/>
              </a:rPr>
              <a:t>abstract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have </a:t>
            </a:r>
            <a:r>
              <a:rPr lang="en-US" b="1" dirty="0"/>
              <a:t>abstract methods</a:t>
            </a:r>
            <a:r>
              <a:rPr lang="en-US" dirty="0"/>
              <a:t> (no body) and </a:t>
            </a:r>
            <a:r>
              <a:rPr lang="en-US" b="1" dirty="0"/>
              <a:t>non-abstract methods</a:t>
            </a:r>
            <a:r>
              <a:rPr lang="en-US" dirty="0"/>
              <a:t> (with implementation).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classes share </a:t>
            </a:r>
            <a:r>
              <a:rPr lang="en-US" b="1" dirty="0"/>
              <a:t>common behavior</a:t>
            </a:r>
            <a:r>
              <a:rPr lang="en-US" dirty="0"/>
              <a:t>, but also need to provide </a:t>
            </a:r>
            <a:r>
              <a:rPr lang="en-US" b="1" dirty="0"/>
              <a:t>their own implementations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717AD-E543-830E-EE2B-63D69ABC31E7}"/>
              </a:ext>
            </a:extLst>
          </p:cNvPr>
          <p:cNvSpPr txBox="1"/>
          <p:nvPr/>
        </p:nvSpPr>
        <p:spPr>
          <a:xfrm>
            <a:off x="5968181" y="2247641"/>
            <a:ext cx="59632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Shape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draw(); 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color()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("Shape has color");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Circle extends Shape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draw()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("Drawing Circle");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15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CC2736-EAB8-9C21-4A52-3725CC3D0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7E00C7D-8242-3168-1712-67DD9628B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632352"/>
            <a:ext cx="10219690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Achieving Abstraction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2823668-5D97-C4C7-2078-43CE364D99C7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A91E96-2312-ADBA-1912-3D7D2730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68" y="1524000"/>
            <a:ext cx="10744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Interface</a:t>
            </a:r>
          </a:p>
          <a:p>
            <a:r>
              <a:rPr lang="en-US" dirty="0"/>
              <a:t>Declared using the keyword interface.</a:t>
            </a:r>
          </a:p>
          <a:p>
            <a:r>
              <a:rPr lang="en-US" dirty="0"/>
              <a:t>Contains </a:t>
            </a:r>
            <a:r>
              <a:rPr lang="en-US" b="1" dirty="0"/>
              <a:t>only abstract methods</a:t>
            </a:r>
            <a:r>
              <a:rPr lang="en-US" dirty="0"/>
              <a:t> (in Java 7) or </a:t>
            </a:r>
            <a:r>
              <a:rPr lang="en-US" b="1" dirty="0"/>
              <a:t>default/static methods</a:t>
            </a:r>
            <a:r>
              <a:rPr lang="en-US" dirty="0"/>
              <a:t> (in Java 8+).</a:t>
            </a:r>
          </a:p>
          <a:p>
            <a:r>
              <a:rPr lang="en-US" dirty="0"/>
              <a:t>Supports </a:t>
            </a:r>
            <a:r>
              <a:rPr lang="en-US" b="1" dirty="0"/>
              <a:t>multiple inheritance</a:t>
            </a:r>
            <a:r>
              <a:rPr lang="en-US" dirty="0"/>
              <a:t>.</a:t>
            </a:r>
          </a:p>
          <a:p>
            <a:r>
              <a:rPr lang="en-US" dirty="0"/>
              <a:t>Used to define a </a:t>
            </a:r>
            <a:r>
              <a:rPr lang="en-US" b="1" dirty="0"/>
              <a:t>contract</a:t>
            </a:r>
            <a:r>
              <a:rPr lang="en-US" dirty="0"/>
              <a:t> that classes must follow.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DDF74-906D-9EDA-BFA0-7297B966F192}"/>
              </a:ext>
            </a:extLst>
          </p:cNvPr>
          <p:cNvSpPr txBox="1"/>
          <p:nvPr/>
        </p:nvSpPr>
        <p:spPr>
          <a:xfrm>
            <a:off x="533400" y="3581400"/>
            <a:ext cx="5963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interface Drawable {</a:t>
            </a:r>
          </a:p>
          <a:p>
            <a:r>
              <a:rPr lang="en-US" dirty="0"/>
              <a:t>    void draw();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Rectangle implements Drawable {</a:t>
            </a:r>
          </a:p>
          <a:p>
            <a:r>
              <a:rPr lang="en-US" dirty="0"/>
              <a:t>    public void draw() { </a:t>
            </a:r>
            <a:r>
              <a:rPr lang="en-US" dirty="0" err="1"/>
              <a:t>System.out.println</a:t>
            </a:r>
            <a:r>
              <a:rPr lang="en-US" dirty="0"/>
              <a:t>("Drawing Rectangle");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9860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232289-8918-D65B-D649-87A0F450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8430039-139D-7E21-DF14-6A79415D7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0972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Declaring Abstract Classes (using abstract keyword)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C364B07-DB29-DE66-6F1B-4BCF688A3155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30251-DE48-EE5C-BA5D-30F541076616}"/>
              </a:ext>
            </a:extLst>
          </p:cNvPr>
          <p:cNvSpPr txBox="1"/>
          <p:nvPr/>
        </p:nvSpPr>
        <p:spPr>
          <a:xfrm>
            <a:off x="228600" y="1699736"/>
            <a:ext cx="975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abstract class</a:t>
            </a:r>
            <a:r>
              <a:rPr lang="en-US" dirty="0"/>
              <a:t> is a class declared with the </a:t>
            </a:r>
            <a:r>
              <a:rPr lang="en-US" b="1" dirty="0">
                <a:latin typeface="Courier New" panose="02070309020205020404" pitchFamily="49" charset="0"/>
              </a:rPr>
              <a:t>abstract</a:t>
            </a:r>
            <a:r>
              <a:rPr lang="en-US" dirty="0"/>
              <a:t>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</a:t>
            </a:r>
            <a:r>
              <a:rPr lang="en-US" b="1" dirty="0"/>
              <a:t>cannot be instantiated</a:t>
            </a:r>
            <a:r>
              <a:rPr lang="en-US" dirty="0"/>
              <a:t> directly — it serves as a </a:t>
            </a:r>
            <a:r>
              <a:rPr lang="en-US" b="1" dirty="0"/>
              <a:t>blueprint</a:t>
            </a:r>
            <a:r>
              <a:rPr lang="en-US" dirty="0"/>
              <a:t> for other 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may contain </a:t>
            </a:r>
            <a:r>
              <a:rPr lang="en-US" b="1" dirty="0"/>
              <a:t>abstract methods</a:t>
            </a:r>
            <a:r>
              <a:rPr lang="en-US" dirty="0"/>
              <a:t> (without implementation) and </a:t>
            </a:r>
            <a:r>
              <a:rPr lang="en-US" b="1" dirty="0"/>
              <a:t>non-abstract methods</a:t>
            </a:r>
            <a:r>
              <a:rPr lang="en-US" dirty="0"/>
              <a:t> (with implementation).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EB71F-F74C-F1DE-C50B-84CE175136DE}"/>
              </a:ext>
            </a:extLst>
          </p:cNvPr>
          <p:cNvSpPr txBox="1"/>
          <p:nvPr/>
        </p:nvSpPr>
        <p:spPr>
          <a:xfrm>
            <a:off x="250723" y="3429000"/>
            <a:ext cx="60025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</a:rPr>
              <a:t>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</a:t>
            </a:r>
            <a:r>
              <a:rPr lang="en-US" dirty="0" err="1">
                <a:latin typeface="Courier New" panose="02070309020205020404" pitchFamily="49" charset="0"/>
              </a:rPr>
              <a:t>methodName</a:t>
            </a:r>
            <a:r>
              <a:rPr lang="en-US" dirty="0">
                <a:latin typeface="Courier New" panose="02070309020205020404" pitchFamily="49" charset="0"/>
              </a:rPr>
              <a:t>();  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</a:t>
            </a:r>
            <a:r>
              <a:rPr lang="en-US" dirty="0" err="1">
                <a:latin typeface="Courier New" panose="02070309020205020404" pitchFamily="49" charset="0"/>
              </a:rPr>
              <a:t>normalMethod</a:t>
            </a:r>
            <a:r>
              <a:rPr lang="en-US" dirty="0">
                <a:latin typeface="Courier New" panose="02070309020205020404" pitchFamily="49" charset="0"/>
              </a:rPr>
              <a:t>() {         // Concrete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// method body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38D66-433F-5458-002A-8A00A5E51F81}"/>
              </a:ext>
            </a:extLst>
          </p:cNvPr>
          <p:cNvSpPr txBox="1"/>
          <p:nvPr/>
        </p:nvSpPr>
        <p:spPr>
          <a:xfrm>
            <a:off x="5410200" y="3429000"/>
            <a:ext cx="60025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sound();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eat()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("Animal is eating");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515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48A531-402D-650A-84EC-174962F8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FDB0057-57B2-B712-F45D-626D9B959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0972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Declaring Abstract Classes (using abstract keyword)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8C5F35C-7A20-3836-DD22-3C646CE93D32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69BD2-B6D9-D759-38DE-C50B274963E5}"/>
              </a:ext>
            </a:extLst>
          </p:cNvPr>
          <p:cNvSpPr txBox="1"/>
          <p:nvPr/>
        </p:nvSpPr>
        <p:spPr>
          <a:xfrm>
            <a:off x="457200" y="2020529"/>
            <a:ext cx="10134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abstract</a:t>
            </a:r>
            <a:r>
              <a:rPr lang="en-US" dirty="0"/>
              <a:t> keyword before the class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contain constructors, data members, and methods (abstract or concrete).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be </a:t>
            </a:r>
            <a:r>
              <a:rPr lang="en-US" b="1" dirty="0"/>
              <a:t>inherited</a:t>
            </a:r>
            <a:r>
              <a:rPr lang="en-US" dirty="0"/>
              <a:t> by a subclass that provides implementation for abstract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achieve </a:t>
            </a:r>
            <a:r>
              <a:rPr lang="en-US" b="1" dirty="0"/>
              <a:t>abstraction</a:t>
            </a:r>
            <a:r>
              <a:rPr lang="en-US" dirty="0"/>
              <a:t> and </a:t>
            </a:r>
            <a:r>
              <a:rPr lang="en-US" b="1" dirty="0"/>
              <a:t>code reusability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99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B3A405-3848-696E-58DC-2EDB90A2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6E74447-3240-1B94-BDBC-0DDC77F5B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Abstract vs. Concrete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8A8CE07-9256-FE3C-A6B9-DA38CEF4797B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AB784-C3EF-D0F9-7C89-31EC09B17B19}"/>
              </a:ext>
            </a:extLst>
          </p:cNvPr>
          <p:cNvSpPr txBox="1"/>
          <p:nvPr/>
        </p:nvSpPr>
        <p:spPr>
          <a:xfrm>
            <a:off x="533399" y="1328822"/>
            <a:ext cx="53515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Abstract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Declared using the </a:t>
            </a:r>
            <a:r>
              <a:rPr lang="en-US" b="1" dirty="0">
                <a:latin typeface="Courier New" panose="02070309020205020404" pitchFamily="49" charset="0"/>
              </a:rPr>
              <a:t>abstract</a:t>
            </a:r>
            <a:r>
              <a:rPr lang="en-US" dirty="0"/>
              <a:t>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Cannot be instantiated</a:t>
            </a:r>
            <a:r>
              <a:rPr lang="en-US" dirty="0"/>
              <a:t>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contain </a:t>
            </a:r>
            <a:r>
              <a:rPr lang="en-US" b="1" dirty="0"/>
              <a:t>abstract methods</a:t>
            </a:r>
            <a:r>
              <a:rPr lang="en-US" dirty="0"/>
              <a:t> (without body).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a </a:t>
            </a:r>
            <a:r>
              <a:rPr lang="en-US" b="1" dirty="0"/>
              <a:t>base or blueprint</a:t>
            </a:r>
            <a:r>
              <a:rPr lang="en-US" dirty="0"/>
              <a:t> for subclasses.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Subclass must implement</a:t>
            </a:r>
            <a:r>
              <a:rPr lang="en-US" dirty="0"/>
              <a:t> all abstract methods.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Shape {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    abstract void draw();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5F2A7-6BE5-8947-8F43-21AB25202D30}"/>
              </a:ext>
            </a:extLst>
          </p:cNvPr>
          <p:cNvSpPr txBox="1"/>
          <p:nvPr/>
        </p:nvSpPr>
        <p:spPr>
          <a:xfrm>
            <a:off x="6096000" y="1328822"/>
            <a:ext cx="60025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Concrete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Normal classes</a:t>
            </a:r>
            <a:r>
              <a:rPr lang="en-US" dirty="0"/>
              <a:t> (not declared abstract).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 be instantiated</a:t>
            </a:r>
            <a:r>
              <a:rPr lang="en-US" dirty="0"/>
              <a:t>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provide </a:t>
            </a:r>
            <a:r>
              <a:rPr lang="en-US" b="1" dirty="0"/>
              <a:t>implementation</a:t>
            </a:r>
            <a:r>
              <a:rPr lang="en-US" dirty="0"/>
              <a:t> for all inherited abstract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contain both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fully implemented methods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class Circle extends Shape {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    void draw() {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("Drawing Circle");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112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5379C5-FAF1-9689-1EE5-48A1E9B3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97A8E2E-59FE-19BA-173D-CD69FEC51D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Abstract vs. Concrete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352AD1-5489-67BD-3503-258ACF05D90E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5FD05C-B015-FBA1-E9E7-360196EC9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891046"/>
              </p:ext>
            </p:extLst>
          </p:nvPr>
        </p:nvGraphicFramePr>
        <p:xfrm>
          <a:off x="293431" y="1534557"/>
          <a:ext cx="10848975" cy="378888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616325">
                  <a:extLst>
                    <a:ext uri="{9D8B030D-6E8A-4147-A177-3AD203B41FA5}">
                      <a16:colId xmlns:a16="http://schemas.microsoft.com/office/drawing/2014/main" val="655368475"/>
                    </a:ext>
                  </a:extLst>
                </a:gridCol>
                <a:gridCol w="3616325">
                  <a:extLst>
                    <a:ext uri="{9D8B030D-6E8A-4147-A177-3AD203B41FA5}">
                      <a16:colId xmlns:a16="http://schemas.microsoft.com/office/drawing/2014/main" val="2412407582"/>
                    </a:ext>
                  </a:extLst>
                </a:gridCol>
                <a:gridCol w="3616325">
                  <a:extLst>
                    <a:ext uri="{9D8B030D-6E8A-4147-A177-3AD203B41FA5}">
                      <a16:colId xmlns:a16="http://schemas.microsoft.com/office/drawing/2014/main" val="1302239276"/>
                    </a:ext>
                  </a:extLst>
                </a:gridCol>
              </a:tblGrid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Feature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Abstract Class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Concrete Class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574277"/>
                  </a:ext>
                </a:extLst>
              </a:tr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Instantiation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Not allowed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Allowed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55127"/>
                  </a:ext>
                </a:extLst>
              </a:tr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Contains Abstract Methods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✅ Yes (optional)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2127782"/>
                  </a:ext>
                </a:extLst>
              </a:tr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Blueprint for subclasses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Fully functional class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052647"/>
                  </a:ext>
                </a:extLst>
              </a:tr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Implementation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Partial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Complete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318673"/>
                  </a:ext>
                </a:extLst>
              </a:tr>
              <a:tr h="63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Keyword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abstract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—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126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262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41787B-E9E4-C296-4EAB-DE1667CA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324BDF-3803-3042-4AF1-561498BCC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Abstract Methods — Declaration and Implementation Rules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36E5DA-6384-4E0C-40B2-EF438270C5B6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F3F98-2952-6A70-A586-188A7C20FE0F}"/>
              </a:ext>
            </a:extLst>
          </p:cNvPr>
          <p:cNvSpPr txBox="1"/>
          <p:nvPr/>
        </p:nvSpPr>
        <p:spPr>
          <a:xfrm>
            <a:off x="762000" y="1882820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abstract method</a:t>
            </a:r>
            <a:r>
              <a:rPr lang="en-US" dirty="0"/>
              <a:t> is a method </a:t>
            </a:r>
            <a:r>
              <a:rPr lang="en-US" b="1" dirty="0"/>
              <a:t>declared without a body</a:t>
            </a:r>
            <a:r>
              <a:rPr lang="en-US" dirty="0"/>
              <a:t> (no implementation).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meant to be </a:t>
            </a:r>
            <a:r>
              <a:rPr lang="en-US" b="1" dirty="0"/>
              <a:t>overridden</a:t>
            </a:r>
            <a:r>
              <a:rPr lang="en-US" dirty="0"/>
              <a:t> in a </a:t>
            </a:r>
            <a:r>
              <a:rPr lang="en-US" b="1" dirty="0"/>
              <a:t>subclass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Declared using the </a:t>
            </a:r>
            <a:r>
              <a:rPr lang="en-US" b="1" dirty="0">
                <a:latin typeface="Courier New" panose="02070309020205020404" pitchFamily="49" charset="0"/>
              </a:rPr>
              <a:t>abstract</a:t>
            </a:r>
            <a:r>
              <a:rPr lang="en-US" b="1" dirty="0"/>
              <a:t> keyword</a:t>
            </a:r>
            <a:r>
              <a:rPr lang="en-US" dirty="0"/>
              <a:t> inside an </a:t>
            </a:r>
            <a:r>
              <a:rPr lang="en-US" b="1" dirty="0"/>
              <a:t>abstract class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D5503-B53E-1D58-85FE-90E287A15018}"/>
              </a:ext>
            </a:extLst>
          </p:cNvPr>
          <p:cNvSpPr txBox="1"/>
          <p:nvPr/>
        </p:nvSpPr>
        <p:spPr>
          <a:xfrm>
            <a:off x="990600" y="3200400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Declaration 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</a:rPr>
              <a:t>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</a:t>
            </a:r>
            <a:r>
              <a:rPr lang="en-US" dirty="0" err="1">
                <a:latin typeface="Courier New" panose="02070309020205020404" pitchFamily="49" charset="0"/>
              </a:rPr>
              <a:t>returnType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methodName</a:t>
            </a:r>
            <a:r>
              <a:rPr lang="en-US" dirty="0">
                <a:latin typeface="Courier New" panose="02070309020205020404" pitchFamily="49" charset="0"/>
              </a:rPr>
              <a:t>();  // no method body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</a:t>
            </a:r>
            <a:r>
              <a:rPr lang="en-US" dirty="0" err="1">
                <a:latin typeface="Courier New" panose="02070309020205020404" pitchFamily="49" charset="0"/>
              </a:rPr>
              <a:t>makeSound</a:t>
            </a:r>
            <a:r>
              <a:rPr lang="en-US" dirty="0">
                <a:latin typeface="Courier New" panose="02070309020205020404" pitchFamily="49" charset="0"/>
              </a:rPr>
              <a:t>();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55A544-8F0E-ACAC-A0BD-BB44C6F6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65E36EE-E271-2BCB-DF6C-6932F036C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Abstract Methods — Declaration and Implementation Rules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4711E6-6FAB-B366-3374-A3830485A98A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1C550-398C-5915-CEB2-2DA8D47A5E94}"/>
              </a:ext>
            </a:extLst>
          </p:cNvPr>
          <p:cNvSpPr txBox="1"/>
          <p:nvPr/>
        </p:nvSpPr>
        <p:spPr>
          <a:xfrm>
            <a:off x="762000" y="1882820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abstract method</a:t>
            </a:r>
            <a:r>
              <a:rPr lang="en-US" dirty="0"/>
              <a:t> is a method </a:t>
            </a:r>
            <a:r>
              <a:rPr lang="en-US" b="1" dirty="0"/>
              <a:t>declared without a body</a:t>
            </a:r>
            <a:r>
              <a:rPr lang="en-US" dirty="0"/>
              <a:t> (no implementation).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meant to be </a:t>
            </a:r>
            <a:r>
              <a:rPr lang="en-US" b="1" dirty="0"/>
              <a:t>overridden</a:t>
            </a:r>
            <a:r>
              <a:rPr lang="en-US" dirty="0"/>
              <a:t> in a </a:t>
            </a:r>
            <a:r>
              <a:rPr lang="en-US" b="1" dirty="0"/>
              <a:t>subclass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Declared using the </a:t>
            </a:r>
            <a:r>
              <a:rPr lang="en-US" b="1" dirty="0">
                <a:latin typeface="Courier New" panose="02070309020205020404" pitchFamily="49" charset="0"/>
              </a:rPr>
              <a:t>abstract</a:t>
            </a:r>
            <a:r>
              <a:rPr lang="en-US" b="1" dirty="0"/>
              <a:t> keyword</a:t>
            </a:r>
            <a:r>
              <a:rPr lang="en-US" dirty="0"/>
              <a:t> inside an </a:t>
            </a:r>
            <a:r>
              <a:rPr lang="en-US" b="1" dirty="0"/>
              <a:t>abstract class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B1D72-F449-00CD-6F96-22877FB01AFB}"/>
              </a:ext>
            </a:extLst>
          </p:cNvPr>
          <p:cNvSpPr txBox="1"/>
          <p:nvPr/>
        </p:nvSpPr>
        <p:spPr>
          <a:xfrm>
            <a:off x="990600" y="3200400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Declaration 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</a:rPr>
              <a:t>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</a:t>
            </a:r>
            <a:r>
              <a:rPr lang="en-US" dirty="0" err="1">
                <a:latin typeface="Courier New" panose="02070309020205020404" pitchFamily="49" charset="0"/>
              </a:rPr>
              <a:t>returnType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methodName</a:t>
            </a:r>
            <a:r>
              <a:rPr lang="en-US" dirty="0">
                <a:latin typeface="Courier New" panose="02070309020205020404" pitchFamily="49" charset="0"/>
              </a:rPr>
              <a:t>();  // no method body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</a:t>
            </a:r>
            <a:r>
              <a:rPr lang="en-US" dirty="0" err="1">
                <a:latin typeface="Courier New" panose="02070309020205020404" pitchFamily="49" charset="0"/>
              </a:rPr>
              <a:t>makeSound</a:t>
            </a:r>
            <a:r>
              <a:rPr lang="en-US" dirty="0">
                <a:latin typeface="Courier New" panose="02070309020205020404" pitchFamily="49" charset="0"/>
              </a:rPr>
              <a:t>();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5200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88792-F562-23A3-53BC-1D8E108C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6897A72-BBF7-4A12-3A55-BF3C8E3CB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Abstract Methods — Declaration and Implementation Rules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E73254-BF3B-DEC2-2885-C2F3CB489B02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36A39-4D15-C4F2-1F28-3C0F2DFF74EB}"/>
              </a:ext>
            </a:extLst>
          </p:cNvPr>
          <p:cNvSpPr txBox="1"/>
          <p:nvPr/>
        </p:nvSpPr>
        <p:spPr>
          <a:xfrm>
            <a:off x="304800" y="1600201"/>
            <a:ext cx="11353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Implementation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Must be defined inside an abstract class.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Cannot have a body</a:t>
            </a:r>
            <a:r>
              <a:rPr lang="en-US" dirty="0"/>
              <a:t> (no </a:t>
            </a:r>
            <a:r>
              <a:rPr lang="en-US" dirty="0">
                <a:latin typeface="Courier New" panose="02070309020205020404" pitchFamily="49" charset="0"/>
              </a:rPr>
              <a:t>{}</a:t>
            </a:r>
            <a:r>
              <a:rPr lang="en-US" dirty="0"/>
              <a:t> block).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Subclasses must implement</a:t>
            </a:r>
            <a:r>
              <a:rPr lang="en-US" dirty="0"/>
              <a:t> all abstract methods using </a:t>
            </a:r>
            <a:r>
              <a:rPr lang="en-US" dirty="0">
                <a:latin typeface="Courier New" panose="02070309020205020404" pitchFamily="49" charset="0"/>
              </a:rPr>
              <a:t>@Override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subclass </a:t>
            </a:r>
            <a:r>
              <a:rPr lang="en-US" b="1" dirty="0"/>
              <a:t>does not implement</a:t>
            </a:r>
            <a:r>
              <a:rPr lang="en-US" dirty="0"/>
              <a:t> all abstract methods, it must also be declared </a:t>
            </a:r>
            <a:r>
              <a:rPr lang="en-US" b="1" dirty="0"/>
              <a:t>abstract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Abstract methods cannot be: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static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final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private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8D9DA-E0D4-83F0-3276-B65FD502161B}"/>
              </a:ext>
            </a:extLst>
          </p:cNvPr>
          <p:cNvSpPr txBox="1"/>
          <p:nvPr/>
        </p:nvSpPr>
        <p:spPr>
          <a:xfrm>
            <a:off x="1066800" y="4572000"/>
            <a:ext cx="6002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of Implementation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Dog extends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</a:t>
            </a:r>
            <a:r>
              <a:rPr lang="en-US" dirty="0" err="1">
                <a:latin typeface="Courier New" panose="02070309020205020404" pitchFamily="49" charset="0"/>
              </a:rPr>
              <a:t>makeSound</a:t>
            </a:r>
            <a:r>
              <a:rPr lang="en-US" dirty="0">
                <a:latin typeface="Courier New" panose="02070309020205020404" pitchFamily="49" charset="0"/>
              </a:rPr>
              <a:t>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("Bark");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215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3CD872-783D-7745-9BC8-FA02D5A9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DBFDD0B-B8DA-EE2D-97D1-F485A64F3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Rules for Constructors and Fields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C2B6A67-E39D-29AF-54CA-222C8266F578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BF038-34CE-44AE-3B53-F98CA460C651}"/>
              </a:ext>
            </a:extLst>
          </p:cNvPr>
          <p:cNvSpPr txBox="1"/>
          <p:nvPr/>
        </p:nvSpPr>
        <p:spPr>
          <a:xfrm>
            <a:off x="381000" y="1561237"/>
            <a:ext cx="9677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Constructors in Abstract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Abstract classes </a:t>
            </a:r>
            <a:r>
              <a:rPr lang="en-US" b="1" dirty="0"/>
              <a:t>can have constructors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Constructors are used to </a:t>
            </a:r>
            <a:r>
              <a:rPr lang="en-US" b="1" dirty="0"/>
              <a:t>initialize fields</a:t>
            </a:r>
            <a:r>
              <a:rPr lang="en-US" dirty="0"/>
              <a:t> when a subclass object is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constructor of the abstract class</a:t>
            </a:r>
            <a:r>
              <a:rPr lang="en-US" dirty="0"/>
              <a:t> is called </a:t>
            </a:r>
            <a:r>
              <a:rPr lang="en-US" b="1" dirty="0"/>
              <a:t>automatically</a:t>
            </a:r>
            <a:r>
              <a:rPr lang="en-US" dirty="0"/>
              <a:t> when a subclass object is instantiated.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Abstract class </a:t>
            </a:r>
            <a:r>
              <a:rPr lang="en-US" b="1" dirty="0"/>
              <a:t>constructors cannot be abstract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444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1A8AA1-07DF-C619-8906-B195ACA7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C8650BE-7153-8245-5EED-585AA9899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Rules for Constructors and Fields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5D28546-CAFD-3055-0B71-C3B73A8591FE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E8E75-4E83-C3A5-DE6B-7EAE9A810AC0}"/>
              </a:ext>
            </a:extLst>
          </p:cNvPr>
          <p:cNvSpPr txBox="1"/>
          <p:nvPr/>
        </p:nvSpPr>
        <p:spPr>
          <a:xfrm>
            <a:off x="1066800" y="1880362"/>
            <a:ext cx="8001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String name;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Animal(String name) {         // Constructor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this.name = name;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("Animal created: " + name);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Dog extends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Dog(String name)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super(name);              // Calls abstract class constructor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532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CA1ADF-BD8B-8440-25D3-4EBB77BF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3D11635-E690-BEAF-B481-1FAD738D7D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Rules for Constructors and Fields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C09027-E844-F320-4774-697F7DC486F4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CEE1B-FFA3-0004-4172-3F8608771BC9}"/>
              </a:ext>
            </a:extLst>
          </p:cNvPr>
          <p:cNvSpPr txBox="1"/>
          <p:nvPr/>
        </p:nvSpPr>
        <p:spPr>
          <a:xfrm>
            <a:off x="990600" y="1752600"/>
            <a:ext cx="60025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Fields in Abstract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Abstract classes can have </a:t>
            </a:r>
            <a:r>
              <a:rPr lang="en-US" b="1" dirty="0"/>
              <a:t>fields (variables)</a:t>
            </a:r>
            <a:r>
              <a:rPr lang="en-US" dirty="0"/>
              <a:t> like normal 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Fields can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Instance</a:t>
            </a:r>
            <a:r>
              <a:rPr lang="en-US" dirty="0"/>
              <a:t> or </a:t>
            </a:r>
            <a:r>
              <a:rPr lang="en-US" b="1" dirty="0"/>
              <a:t>static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Private</a:t>
            </a:r>
            <a:r>
              <a:rPr lang="en-US" dirty="0"/>
              <a:t>, </a:t>
            </a:r>
            <a:r>
              <a:rPr lang="en-US" b="1" dirty="0"/>
              <a:t>protected</a:t>
            </a:r>
            <a:r>
              <a:rPr lang="en-US" dirty="0"/>
              <a:t>, or </a:t>
            </a:r>
            <a:r>
              <a:rPr lang="en-US" b="1" dirty="0"/>
              <a:t>public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Fields can be </a:t>
            </a:r>
            <a:r>
              <a:rPr lang="en-US" b="1" dirty="0"/>
              <a:t>initialized directly</a:t>
            </a:r>
            <a:r>
              <a:rPr lang="en-US" dirty="0"/>
              <a:t> or through constructors.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 </a:t>
            </a:r>
            <a:r>
              <a:rPr lang="en-US" b="1" dirty="0"/>
              <a:t>inherit non-private fields</a:t>
            </a:r>
            <a:r>
              <a:rPr lang="en-US" dirty="0"/>
              <a:t> and can access them according to visibility.</a:t>
            </a:r>
          </a:p>
          <a:p>
            <a:pPr>
              <a:buNone/>
            </a:pPr>
            <a:r>
              <a:rPr lang="en-US" dirty="0"/>
              <a:t>🧩 </a:t>
            </a:r>
            <a:r>
              <a:rPr lang="en-US" b="1" dirty="0"/>
              <a:t>Example: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Shape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protected String color = "Red";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4858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834A96-F022-40E8-ED6A-896CFC96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0AFC4F-536B-F6E6-CC96-3E6882C4DB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Rules for Constructors and Fields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86E85F7-874B-13FE-7CA5-E7EF3300B1C8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DAA841-8369-6BEE-5E4E-F332A5043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16990"/>
              </p:ext>
            </p:extLst>
          </p:nvPr>
        </p:nvGraphicFramePr>
        <p:xfrm>
          <a:off x="838200" y="1892652"/>
          <a:ext cx="7620000" cy="32766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33717660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11566543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74897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Constructor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Allowed (cannot be abstract)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82910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Initialize abstract class fields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463235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Called When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Subclass object is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29977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Allowed (instance/static)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696915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Based on access modifiers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045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87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F3C581-61BE-8234-06A7-F1D1C8AD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08DA16-8C66-6734-F0AD-AAAAB12277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Inheritance and Method Overriding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EB5892B-B228-0DC7-B223-6E6D344AD7A7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8B841-8EF5-6E60-7183-B27D1D7FA869}"/>
              </a:ext>
            </a:extLst>
          </p:cNvPr>
          <p:cNvSpPr txBox="1"/>
          <p:nvPr/>
        </p:nvSpPr>
        <p:spPr>
          <a:xfrm>
            <a:off x="457200" y="1853323"/>
            <a:ext cx="4724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Inheritance with Abstract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Abstract classes are </a:t>
            </a:r>
            <a:r>
              <a:rPr lang="en-US" b="1" dirty="0"/>
              <a:t>meant to be inherited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subclass extends</a:t>
            </a:r>
            <a:r>
              <a:rPr lang="en-US" dirty="0"/>
              <a:t> the abstract class using the </a:t>
            </a:r>
            <a:r>
              <a:rPr lang="en-US" dirty="0">
                <a:latin typeface="Courier New" panose="02070309020205020404" pitchFamily="49" charset="0"/>
              </a:rPr>
              <a:t>extends</a:t>
            </a:r>
            <a:r>
              <a:rPr lang="en-US" dirty="0"/>
              <a:t>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subclass </a:t>
            </a:r>
            <a:r>
              <a:rPr lang="en-US" b="1" dirty="0"/>
              <a:t>inherits fields and concrete methods</a:t>
            </a:r>
            <a:r>
              <a:rPr lang="en-US" dirty="0"/>
              <a:t> from the abstract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abstract class contains </a:t>
            </a:r>
            <a:r>
              <a:rPr lang="en-US" b="1" dirty="0"/>
              <a:t>abstract methods</a:t>
            </a:r>
            <a:r>
              <a:rPr lang="en-US" dirty="0"/>
              <a:t>, the subclass </a:t>
            </a:r>
            <a:r>
              <a:rPr lang="en-US" b="1" dirty="0"/>
              <a:t>must implement</a:t>
            </a:r>
            <a:r>
              <a:rPr lang="en-US" dirty="0"/>
              <a:t> all of them — otherwise, it must also be declared abstract.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79D5A-2ABF-59EE-A0E4-DD0D8BFE38C2}"/>
              </a:ext>
            </a:extLst>
          </p:cNvPr>
          <p:cNvSpPr txBox="1"/>
          <p:nvPr/>
        </p:nvSpPr>
        <p:spPr>
          <a:xfrm>
            <a:off x="5727292" y="1853323"/>
            <a:ext cx="61599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Vehicle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start();   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stop()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("Vehicle stopped");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Car extends Vehicle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start()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("Car started");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6590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71B085-45A2-2EB6-E69F-C436612E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2F209D-E45A-2D62-FB94-D1C28A39A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Inheritance and Method Overriding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7EC621-851D-4BC4-2C9E-9BF927A2B71B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0C046-4A64-FC5C-E83F-CDB84D82E816}"/>
              </a:ext>
            </a:extLst>
          </p:cNvPr>
          <p:cNvSpPr txBox="1"/>
          <p:nvPr/>
        </p:nvSpPr>
        <p:spPr>
          <a:xfrm>
            <a:off x="457200" y="1853323"/>
            <a:ext cx="4724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Inheritance with Abstract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Abstract classes are </a:t>
            </a:r>
            <a:r>
              <a:rPr lang="en-US" b="1" dirty="0"/>
              <a:t>meant to be inherited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subclass extends</a:t>
            </a:r>
            <a:r>
              <a:rPr lang="en-US" dirty="0"/>
              <a:t> the abstract class using the </a:t>
            </a:r>
            <a:r>
              <a:rPr lang="en-US" dirty="0">
                <a:latin typeface="Courier New" panose="02070309020205020404" pitchFamily="49" charset="0"/>
              </a:rPr>
              <a:t>extends</a:t>
            </a:r>
            <a:r>
              <a:rPr lang="en-US" dirty="0"/>
              <a:t>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subclass </a:t>
            </a:r>
            <a:r>
              <a:rPr lang="en-US" b="1" dirty="0"/>
              <a:t>inherits fields and concrete methods</a:t>
            </a:r>
            <a:r>
              <a:rPr lang="en-US" dirty="0"/>
              <a:t> from the abstract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abstract class contains </a:t>
            </a:r>
            <a:r>
              <a:rPr lang="en-US" b="1" dirty="0"/>
              <a:t>abstract methods</a:t>
            </a:r>
            <a:r>
              <a:rPr lang="en-US" dirty="0"/>
              <a:t>, the subclass </a:t>
            </a:r>
            <a:r>
              <a:rPr lang="en-US" b="1" dirty="0"/>
              <a:t>must implement</a:t>
            </a:r>
            <a:r>
              <a:rPr lang="en-US" dirty="0"/>
              <a:t> all of them — otherwise, it must also be declared abstract.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11BB0-BE65-0B55-ADFE-D9AB6EC5247C}"/>
              </a:ext>
            </a:extLst>
          </p:cNvPr>
          <p:cNvSpPr txBox="1"/>
          <p:nvPr/>
        </p:nvSpPr>
        <p:spPr>
          <a:xfrm>
            <a:off x="5727292" y="1853323"/>
            <a:ext cx="61599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class Vehicle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abstract void start();    // abstract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stop()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("Vehicle stopped");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Car extends Vehicle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start()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("Car started");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0371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4DC0CD-2F3C-8637-9BA5-C6E25E5A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D7191C3-7537-4996-625D-A68A50D2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Inheritance and Method Overriding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8B3DC65-D821-CA85-E7F4-14779087B196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33863-8DA0-4654-B95C-16D6E90DEE28}"/>
              </a:ext>
            </a:extLst>
          </p:cNvPr>
          <p:cNvSpPr txBox="1"/>
          <p:nvPr/>
        </p:nvSpPr>
        <p:spPr>
          <a:xfrm>
            <a:off x="381000" y="1880305"/>
            <a:ext cx="9144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Method Overriding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All abstract methods</a:t>
            </a:r>
            <a:r>
              <a:rPr lang="en-US" dirty="0"/>
              <a:t> must be </a:t>
            </a:r>
            <a:r>
              <a:rPr lang="en-US" b="1" dirty="0"/>
              <a:t>overridden</a:t>
            </a:r>
            <a:r>
              <a:rPr lang="en-US" dirty="0"/>
              <a:t> in the first concrete subclass.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method signature</a:t>
            </a:r>
            <a:r>
              <a:rPr lang="en-US" dirty="0"/>
              <a:t> (name, parameters, return type) must match the parent’s.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</a:rPr>
              <a:t>@Override</a:t>
            </a:r>
            <a:r>
              <a:rPr lang="en-US" dirty="0"/>
              <a:t> annotation is recommended for clarity.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modifier of the overridden method </a:t>
            </a:r>
            <a:r>
              <a:rPr lang="en-US" b="1" dirty="0"/>
              <a:t>cannot be more restrictive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 can also </a:t>
            </a:r>
            <a:r>
              <a:rPr lang="en-US" b="1" dirty="0"/>
              <a:t>override non-abstract methods</a:t>
            </a:r>
            <a:r>
              <a:rPr lang="en-US" dirty="0"/>
              <a:t> for customization.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Example: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Bike extends Vehicle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start()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("Bike started");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098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E9C790-1D33-EA28-AC82-83CFEBEE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900791-EE68-6CE0-3E51-EFCC818270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Inheritance and Method Overriding in Abstract Classes</a:t>
            </a: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F988D5D-2CCD-661A-B97A-998355E019A5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5CB2F4-9C9C-A9C0-3652-184C96B0D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01443"/>
              </p:ext>
            </p:extLst>
          </p:nvPr>
        </p:nvGraphicFramePr>
        <p:xfrm>
          <a:off x="533400" y="1882820"/>
          <a:ext cx="10172630" cy="349408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086315">
                  <a:extLst>
                    <a:ext uri="{9D8B030D-6E8A-4147-A177-3AD203B41FA5}">
                      <a16:colId xmlns:a16="http://schemas.microsoft.com/office/drawing/2014/main" val="2441399314"/>
                    </a:ext>
                  </a:extLst>
                </a:gridCol>
                <a:gridCol w="5086315">
                  <a:extLst>
                    <a:ext uri="{9D8B030D-6E8A-4147-A177-3AD203B41FA5}">
                      <a16:colId xmlns:a16="http://schemas.microsoft.com/office/drawing/2014/main" val="3517839578"/>
                    </a:ext>
                  </a:extLst>
                </a:gridCol>
              </a:tblGrid>
              <a:tr h="51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406689592"/>
                  </a:ext>
                </a:extLst>
              </a:tr>
              <a:tr h="51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Inheritance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Abstract class must be extended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3943898796"/>
                  </a:ext>
                </a:extLst>
              </a:tr>
              <a:tr h="51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 Implementation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abstract methods must be implemented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4014734407"/>
                  </a:ext>
                </a:extLst>
              </a:tr>
              <a:tr h="51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Overriding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in concrete subclass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3679404279"/>
                  </a:ext>
                </a:extLst>
              </a:tr>
              <a:tr h="51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Modifier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reduce visibility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2763686994"/>
                  </a:ext>
                </a:extLst>
              </a:tr>
              <a:tr h="905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Flexibility</a:t>
                      </a:r>
                    </a:p>
                  </a:txBody>
                  <a:tcPr marL="87665" marR="87665" marT="43833" marB="43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Subclass can override both abstract &amp; concrete methods</a:t>
                      </a:r>
                    </a:p>
                  </a:txBody>
                  <a:tcPr marL="87665" marR="87665" marT="43833" marB="43833" anchor="ctr"/>
                </a:tc>
                <a:extLst>
                  <a:ext uri="{0D108BD9-81ED-4DB2-BD59-A6C34878D82A}">
                    <a16:rowId xmlns:a16="http://schemas.microsoft.com/office/drawing/2014/main" val="33607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437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ED247-C32A-F46B-30CE-9C26B94A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2164B-EF88-2D5A-3D77-D5CDAC6F6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Example programs using abstract classes</a:t>
            </a:r>
            <a:br>
              <a:rPr lang="en-US" dirty="0"/>
            </a:b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91A6352-9AC5-4F78-23FB-7CAC2C3298B0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9B139-C86A-3E76-0CD5-405896E1BC95}"/>
              </a:ext>
            </a:extLst>
          </p:cNvPr>
          <p:cNvSpPr txBox="1"/>
          <p:nvPr/>
        </p:nvSpPr>
        <p:spPr>
          <a:xfrm>
            <a:off x="381000" y="1201031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1 — Shape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45E29-B558-2C78-02C0-4DC541266B24}"/>
              </a:ext>
            </a:extLst>
          </p:cNvPr>
          <p:cNvSpPr txBox="1"/>
          <p:nvPr/>
        </p:nvSpPr>
        <p:spPr>
          <a:xfrm>
            <a:off x="457200" y="1607205"/>
            <a:ext cx="60025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abstract class Shape {</a:t>
            </a:r>
          </a:p>
          <a:p>
            <a:r>
              <a:rPr lang="en-US" dirty="0"/>
              <a:t>    abstract void draw();  // abstract method</a:t>
            </a:r>
          </a:p>
          <a:p>
            <a:r>
              <a:rPr lang="en-US" dirty="0"/>
              <a:t>    void info()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("All shapes have boundaries.");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Circle extends Shape {</a:t>
            </a:r>
          </a:p>
          <a:p>
            <a:r>
              <a:rPr lang="en-US" dirty="0"/>
              <a:t>    void draw()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("Drawing a Circle");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Rectangle extends Shape {</a:t>
            </a:r>
          </a:p>
          <a:p>
            <a:r>
              <a:rPr lang="en-US" dirty="0"/>
              <a:t>    void draw()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("Drawing a Rectangle");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A84E5-2027-8135-F648-FF6996E6BEA9}"/>
              </a:ext>
            </a:extLst>
          </p:cNvPr>
          <p:cNvSpPr txBox="1"/>
          <p:nvPr/>
        </p:nvSpPr>
        <p:spPr>
          <a:xfrm>
            <a:off x="6383592" y="1565701"/>
            <a:ext cx="60025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Shape s1 = new Circle();</a:t>
            </a:r>
          </a:p>
          <a:p>
            <a:r>
              <a:rPr lang="en-US" dirty="0"/>
              <a:t>        Shape s2 = new Rectangle();</a:t>
            </a:r>
          </a:p>
          <a:p>
            <a:r>
              <a:rPr lang="en-US" dirty="0"/>
              <a:t>        s1.draw();</a:t>
            </a:r>
          </a:p>
          <a:p>
            <a:r>
              <a:rPr lang="en-US" dirty="0"/>
              <a:t>        s2.draw();</a:t>
            </a:r>
          </a:p>
          <a:p>
            <a:r>
              <a:rPr lang="en-US" dirty="0"/>
              <a:t>        s1.info();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75D41-B249-F83E-E7C8-A81A97A9D929}"/>
              </a:ext>
            </a:extLst>
          </p:cNvPr>
          <p:cNvSpPr txBox="1"/>
          <p:nvPr/>
        </p:nvSpPr>
        <p:spPr>
          <a:xfrm>
            <a:off x="6432753" y="4419600"/>
            <a:ext cx="62533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Drawing a Circle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Drawing a Rectangle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All shapes have boundaries.</a:t>
            </a:r>
          </a:p>
        </p:txBody>
      </p:sp>
    </p:spTree>
    <p:extLst>
      <p:ext uri="{BB962C8B-B14F-4D97-AF65-F5344CB8AC3E}">
        <p14:creationId xmlns:p14="http://schemas.microsoft.com/office/powerpoint/2010/main" val="3585321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029B71-47ED-DB7A-6B3D-17E81F26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82CBB7F-D67A-1DEA-3F88-B08012EF5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1165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Example programs using abstract classes</a:t>
            </a:r>
            <a:br>
              <a:rPr lang="en-US" dirty="0"/>
            </a:br>
            <a:endParaRPr spc="-9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6E81823-1A5F-6D5C-92FE-22BABA5F6ED9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23F7F-691C-E6A0-9D8C-F3D84C46435D}"/>
              </a:ext>
            </a:extLst>
          </p:cNvPr>
          <p:cNvSpPr txBox="1"/>
          <p:nvPr/>
        </p:nvSpPr>
        <p:spPr>
          <a:xfrm>
            <a:off x="363794" y="941410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2 — Employee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6F639-EC74-9118-8BBA-E2519918596E}"/>
              </a:ext>
            </a:extLst>
          </p:cNvPr>
          <p:cNvSpPr txBox="1"/>
          <p:nvPr/>
        </p:nvSpPr>
        <p:spPr>
          <a:xfrm>
            <a:off x="341671" y="1501820"/>
            <a:ext cx="6400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abstract class Employee {</a:t>
            </a:r>
          </a:p>
          <a:p>
            <a:r>
              <a:rPr lang="en-US" dirty="0"/>
              <a:t>    abstract void </a:t>
            </a:r>
            <a:r>
              <a:rPr lang="en-US" dirty="0" err="1"/>
              <a:t>calculateSalary</a:t>
            </a:r>
            <a:r>
              <a:rPr lang="en-US" dirty="0"/>
              <a:t>();</a:t>
            </a:r>
          </a:p>
          <a:p>
            <a:r>
              <a:rPr lang="en-US" dirty="0"/>
              <a:t>    void display()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("Employee details:");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</a:t>
            </a:r>
            <a:r>
              <a:rPr lang="en-US" dirty="0" err="1"/>
              <a:t>FullTimeEmployee</a:t>
            </a:r>
            <a:r>
              <a:rPr lang="en-US" dirty="0"/>
              <a:t> extends Employee {</a:t>
            </a:r>
          </a:p>
          <a:p>
            <a:r>
              <a:rPr lang="en-US" dirty="0"/>
              <a:t>    void </a:t>
            </a:r>
            <a:r>
              <a:rPr lang="en-US" dirty="0" err="1"/>
              <a:t>calculateSalary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("Salary = Base Pay + Allowances");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</a:t>
            </a:r>
            <a:r>
              <a:rPr lang="en-US" dirty="0" err="1"/>
              <a:t>PartTimeEmployee</a:t>
            </a:r>
            <a:r>
              <a:rPr lang="en-US" dirty="0"/>
              <a:t> extends Employee {</a:t>
            </a:r>
          </a:p>
          <a:p>
            <a:r>
              <a:rPr lang="en-US" dirty="0"/>
              <a:t>    void </a:t>
            </a:r>
            <a:r>
              <a:rPr lang="en-US" dirty="0" err="1"/>
              <a:t>calculateSalary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("Salary = Hours Worked × Hourly Rate");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3B6C2-74B8-3A26-3A71-728950A54ACC}"/>
              </a:ext>
            </a:extLst>
          </p:cNvPr>
          <p:cNvSpPr txBox="1"/>
          <p:nvPr/>
        </p:nvSpPr>
        <p:spPr>
          <a:xfrm>
            <a:off x="6577780" y="1222162"/>
            <a:ext cx="6400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Payroll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Employee e1 = new </a:t>
            </a:r>
            <a:r>
              <a:rPr lang="en-US" dirty="0" err="1"/>
              <a:t>FullTimeEmployee</a:t>
            </a:r>
            <a:r>
              <a:rPr lang="en-US" dirty="0"/>
              <a:t>();</a:t>
            </a:r>
          </a:p>
          <a:p>
            <a:r>
              <a:rPr lang="en-US" dirty="0"/>
              <a:t>        Employee e2 = new </a:t>
            </a:r>
            <a:r>
              <a:rPr lang="en-US" dirty="0" err="1"/>
              <a:t>PartTimeEmployee</a:t>
            </a:r>
            <a:r>
              <a:rPr lang="en-US" dirty="0"/>
              <a:t>();</a:t>
            </a:r>
          </a:p>
          <a:p>
            <a:r>
              <a:rPr lang="en-US" dirty="0"/>
              <a:t>        e1.display();</a:t>
            </a:r>
          </a:p>
          <a:p>
            <a:r>
              <a:rPr lang="en-US" dirty="0"/>
              <a:t>        e1.calculateSalary();</a:t>
            </a:r>
          </a:p>
          <a:p>
            <a:r>
              <a:rPr lang="en-US" dirty="0"/>
              <a:t>        e2.calculateSalary();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FFD5DF-0E5B-F125-5058-76B0A869A67D}"/>
              </a:ext>
            </a:extLst>
          </p:cNvPr>
          <p:cNvSpPr txBox="1"/>
          <p:nvPr/>
        </p:nvSpPr>
        <p:spPr>
          <a:xfrm>
            <a:off x="6904703" y="4048482"/>
            <a:ext cx="65482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Employee details: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Salary = Base Pay + Allowances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Salary = Hours Worked × Hourly Rate</a:t>
            </a:r>
          </a:p>
        </p:txBody>
      </p:sp>
    </p:spTree>
    <p:extLst>
      <p:ext uri="{BB962C8B-B14F-4D97-AF65-F5344CB8AC3E}">
        <p14:creationId xmlns:p14="http://schemas.microsoft.com/office/powerpoint/2010/main" val="1770052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610" y="494528"/>
            <a:ext cx="102196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dirty="0"/>
              <a:t>Interfaces</a:t>
            </a:r>
            <a:endParaRPr spc="-85" dirty="0"/>
          </a:p>
        </p:txBody>
      </p:sp>
      <p:sp>
        <p:nvSpPr>
          <p:cNvPr id="6" name="object 6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FD73E-0045-255F-6CAF-7B76EF0024A7}"/>
              </a:ext>
            </a:extLst>
          </p:cNvPr>
          <p:cNvSpPr txBox="1"/>
          <p:nvPr/>
        </p:nvSpPr>
        <p:spPr>
          <a:xfrm>
            <a:off x="304800" y="1219200"/>
            <a:ext cx="9220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an Interface?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contract</a:t>
            </a:r>
            <a:r>
              <a:rPr lang="en-US" dirty="0"/>
              <a:t> that specifies </a:t>
            </a:r>
            <a:r>
              <a:rPr lang="en-US" i="1" dirty="0"/>
              <a:t>what</a:t>
            </a:r>
            <a:r>
              <a:rPr lang="en-US" dirty="0"/>
              <a:t> a class must do, not </a:t>
            </a:r>
            <a:r>
              <a:rPr lang="en-US" i="1" dirty="0"/>
              <a:t>how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Declared with </a:t>
            </a:r>
            <a:r>
              <a:rPr lang="en-US" dirty="0">
                <a:latin typeface="Courier New" panose="02070309020205020404" pitchFamily="49" charset="0"/>
              </a:rPr>
              <a:t>interface</a:t>
            </a:r>
            <a:r>
              <a:rPr lang="en-US" dirty="0"/>
              <a:t> (e.g., in Java).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</a:t>
            </a:r>
            <a:r>
              <a:rPr lang="en-US" b="1" dirty="0"/>
              <a:t>abstract methods</a:t>
            </a:r>
            <a:r>
              <a:rPr lang="en-US" dirty="0"/>
              <a:t> (and in Java 8+: default &amp; static methods).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state</a:t>
            </a:r>
            <a:r>
              <a:rPr lang="en-US" dirty="0"/>
              <a:t> (only </a:t>
            </a:r>
            <a:r>
              <a:rPr lang="en-US" dirty="0">
                <a:latin typeface="Courier New" panose="02070309020205020404" pitchFamily="49" charset="0"/>
              </a:rPr>
              <a:t>public static final</a:t>
            </a:r>
            <a:r>
              <a:rPr lang="en-US" dirty="0"/>
              <a:t> constants).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BA955-317B-0616-4EEC-F4D021E16ADE}"/>
              </a:ext>
            </a:extLst>
          </p:cNvPr>
          <p:cNvSpPr txBox="1"/>
          <p:nvPr/>
        </p:nvSpPr>
        <p:spPr>
          <a:xfrm>
            <a:off x="457200" y="3124200"/>
            <a:ext cx="7696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interface Payable {</a:t>
            </a:r>
          </a:p>
          <a:p>
            <a:r>
              <a:rPr lang="en-US" dirty="0"/>
              <a:t>    double </a:t>
            </a:r>
            <a:r>
              <a:rPr lang="en-US" dirty="0" err="1"/>
              <a:t>payAmount</a:t>
            </a:r>
            <a:r>
              <a:rPr lang="en-US" dirty="0"/>
              <a:t>();           // contract method (no body)</a:t>
            </a:r>
          </a:p>
          <a:p>
            <a:r>
              <a:rPr lang="en-US" dirty="0"/>
              <a:t>    default String currency() {   // optional default behavior</a:t>
            </a:r>
          </a:p>
          <a:p>
            <a:r>
              <a:rPr lang="en-US" dirty="0"/>
              <a:t>        return "USD";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55DA5D-7A65-A86B-31FE-88167DC6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9FB3E91-A759-1D7A-109D-5FEBD36F6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610" y="494528"/>
            <a:ext cx="102196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dirty="0"/>
              <a:t>Interfaces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648E648-BEF9-05A5-8594-B8B3453F309C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FA4C9-1463-C374-A49B-CAF49E403350}"/>
              </a:ext>
            </a:extLst>
          </p:cNvPr>
          <p:cNvSpPr txBox="1"/>
          <p:nvPr/>
        </p:nvSpPr>
        <p:spPr>
          <a:xfrm>
            <a:off x="304800" y="1295400"/>
            <a:ext cx="9829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2) Purpose of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Standardize behavior</a:t>
            </a:r>
            <a:r>
              <a:rPr lang="en-US" dirty="0"/>
              <a:t> across </a:t>
            </a:r>
            <a:r>
              <a:rPr lang="en-US" b="1" dirty="0"/>
              <a:t>unrelated classes</a:t>
            </a:r>
            <a:r>
              <a:rPr lang="en-US" dirty="0"/>
              <a:t> (e.g., </a:t>
            </a:r>
            <a:r>
              <a:rPr lang="en-US" dirty="0">
                <a:latin typeface="Courier New" panose="02070309020205020404" pitchFamily="49" charset="0"/>
              </a:rPr>
              <a:t>Printer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Invoice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Contractor</a:t>
            </a:r>
            <a:r>
              <a:rPr lang="en-US" dirty="0"/>
              <a:t> all become </a:t>
            </a:r>
            <a:r>
              <a:rPr lang="en-US" dirty="0">
                <a:latin typeface="Courier New" panose="02070309020205020404" pitchFamily="49" charset="0"/>
              </a:rPr>
              <a:t>Payable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</a:t>
            </a:r>
            <a:r>
              <a:rPr lang="en-US" b="1" dirty="0"/>
              <a:t>polymorphism</a:t>
            </a:r>
            <a:r>
              <a:rPr lang="en-US" dirty="0"/>
              <a:t>: code to an interface, not an implementation.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multiple inheritance of type</a:t>
            </a:r>
            <a:r>
              <a:rPr lang="en-US" dirty="0"/>
              <a:t> (a class can implement many interfaces).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modularity</a:t>
            </a:r>
            <a:r>
              <a:rPr lang="en-US" dirty="0"/>
              <a:t> and </a:t>
            </a:r>
            <a:r>
              <a:rPr lang="en-US" b="1" dirty="0"/>
              <a:t>testability</a:t>
            </a:r>
            <a:r>
              <a:rPr lang="en-US" dirty="0"/>
              <a:t> (easy to mock in unit tests).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Decouple </a:t>
            </a:r>
            <a:r>
              <a:rPr lang="en-US" b="1" dirty="0"/>
              <a:t>frameworks/libraries</a:t>
            </a:r>
            <a:r>
              <a:rPr lang="en-US" dirty="0"/>
              <a:t> from concrete classes (plug-and-play design).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88135-B153-2605-FB5C-D87E7C425021}"/>
              </a:ext>
            </a:extLst>
          </p:cNvPr>
          <p:cNvSpPr txBox="1"/>
          <p:nvPr/>
        </p:nvSpPr>
        <p:spPr>
          <a:xfrm>
            <a:off x="533400" y="3733800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3) Real-World Analogy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Electrical socket</a:t>
            </a:r>
            <a:r>
              <a:rPr lang="en-US" dirty="0"/>
              <a:t> = interface (shape, voltage standard).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Different devices</a:t>
            </a:r>
            <a:r>
              <a:rPr lang="en-US" dirty="0"/>
              <a:t> (TV, charger, lamp) = classes implementing the same plug standard.</a:t>
            </a:r>
          </a:p>
        </p:txBody>
      </p:sp>
    </p:spTree>
    <p:extLst>
      <p:ext uri="{BB962C8B-B14F-4D97-AF65-F5344CB8AC3E}">
        <p14:creationId xmlns:p14="http://schemas.microsoft.com/office/powerpoint/2010/main" val="2828268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06981D-2EAB-1303-C428-ADA23F22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CE85D65-1276-D945-EE6A-DD734287D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610" y="494528"/>
            <a:ext cx="102196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dirty="0"/>
              <a:t>Interfaces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D8520AC-0144-2BFD-634E-3D39191BCE8C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030FB-7A24-5262-0479-FB89BFE413BC}"/>
              </a:ext>
            </a:extLst>
          </p:cNvPr>
          <p:cNvSpPr txBox="1"/>
          <p:nvPr/>
        </p:nvSpPr>
        <p:spPr>
          <a:xfrm>
            <a:off x="381000" y="1348099"/>
            <a:ext cx="9220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4) When to Use an Interface (vs. Abstract Class)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Interface</a:t>
            </a:r>
            <a:r>
              <a:rPr lang="en-US" dirty="0"/>
              <a:t>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need a </a:t>
            </a:r>
            <a:r>
              <a:rPr lang="en-US" b="1" dirty="0"/>
              <a:t>capability</a:t>
            </a:r>
            <a:r>
              <a:rPr lang="en-US" dirty="0"/>
              <a:t> shared by many </a:t>
            </a:r>
            <a:r>
              <a:rPr lang="en-US" b="1" dirty="0"/>
              <a:t>unrelated</a:t>
            </a:r>
            <a:r>
              <a:rPr lang="en-US" dirty="0"/>
              <a:t> types.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want </a:t>
            </a:r>
            <a:r>
              <a:rPr lang="en-US" b="1" dirty="0"/>
              <a:t>multiple</a:t>
            </a:r>
            <a:r>
              <a:rPr lang="en-US" dirty="0"/>
              <a:t> such capabilities on one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Abstract Class</a:t>
            </a:r>
            <a:r>
              <a:rPr lang="en-US" dirty="0"/>
              <a:t>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share </a:t>
            </a:r>
            <a:r>
              <a:rPr lang="en-US" b="1" dirty="0"/>
              <a:t>state + partial implementation</a:t>
            </a:r>
            <a:r>
              <a:rPr lang="en-US" dirty="0"/>
              <a:t> among </a:t>
            </a:r>
            <a:r>
              <a:rPr lang="en-US" b="1" dirty="0"/>
              <a:t>closely related</a:t>
            </a:r>
            <a:r>
              <a:rPr lang="en-US" dirty="0"/>
              <a:t> types.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30D83-EEA6-321E-8CB1-662CF5A1B4C9}"/>
              </a:ext>
            </a:extLst>
          </p:cNvPr>
          <p:cNvSpPr txBox="1"/>
          <p:nvPr/>
        </p:nvSpPr>
        <p:spPr>
          <a:xfrm>
            <a:off x="366252" y="4185757"/>
            <a:ext cx="11063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Pattern: many </a:t>
            </a:r>
            <a:r>
              <a:rPr lang="en-US" b="1" dirty="0"/>
              <a:t>unrelated</a:t>
            </a:r>
            <a:r>
              <a:rPr lang="en-US" dirty="0"/>
              <a:t> classes can offer the </a:t>
            </a:r>
            <a:r>
              <a:rPr lang="en-US" b="1" dirty="0"/>
              <a:t>same capability</a:t>
            </a:r>
            <a:r>
              <a:rPr lang="en-US" dirty="0"/>
              <a:t> → use </a:t>
            </a:r>
            <a:r>
              <a:rPr lang="en-US" b="1" dirty="0"/>
              <a:t>interfaces</a:t>
            </a:r>
            <a:r>
              <a:rPr lang="en-US" dirty="0"/>
              <a:t> for polymorphism and testability.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EBF58-3FD1-3B07-C789-F9C43AC251E3}"/>
              </a:ext>
            </a:extLst>
          </p:cNvPr>
          <p:cNvSpPr txBox="1"/>
          <p:nvPr/>
        </p:nvSpPr>
        <p:spPr>
          <a:xfrm>
            <a:off x="410496" y="5155790"/>
            <a:ext cx="10943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Pattern: a </a:t>
            </a:r>
            <a:r>
              <a:rPr lang="en-US" b="1" dirty="0"/>
              <a:t>family</a:t>
            </a:r>
            <a:r>
              <a:rPr lang="en-US" dirty="0"/>
              <a:t> of related types share </a:t>
            </a:r>
            <a:r>
              <a:rPr lang="en-US" b="1" dirty="0"/>
              <a:t>fields + default logic</a:t>
            </a:r>
            <a:r>
              <a:rPr lang="en-US" dirty="0"/>
              <a:t> → use an </a:t>
            </a:r>
            <a:r>
              <a:rPr lang="en-US" b="1" dirty="0"/>
              <a:t>abstract class</a:t>
            </a:r>
            <a:r>
              <a:rPr lang="en-US" dirty="0"/>
              <a:t> for a skeletal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629279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202931-2FCB-008D-44B5-5096011D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A88E92-3036-3D8E-AF82-9FAE2DF16A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Interfaces (capabilities across unrelated types)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FD457A5-AA28-5DBA-EDE5-0D275C26DFD6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3CC37-FD4B-B2CA-8DB0-9D21DF164D5A}"/>
              </a:ext>
            </a:extLst>
          </p:cNvPr>
          <p:cNvSpPr txBox="1"/>
          <p:nvPr/>
        </p:nvSpPr>
        <p:spPr>
          <a:xfrm>
            <a:off x="381000" y="1727180"/>
            <a:ext cx="9448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Payments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PaymentMethod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pay(amount)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refund(id)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CreditCard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PayPal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UPI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ApplePay</a:t>
            </a:r>
            <a:endParaRPr lang="en-US" dirty="0"/>
          </a:p>
          <a:p>
            <a:pPr>
              <a:buFont typeface="+mj-lt"/>
              <a:buAutoNum type="arabicPeriod" startAt="2"/>
            </a:pPr>
            <a:r>
              <a:rPr lang="en-US" b="1" dirty="0"/>
              <a:t>Notifications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Notifier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send(to, msg)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EmailNotifier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SMSNotifier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PushNotifier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SlackNotifier</a:t>
            </a:r>
            <a:endParaRPr lang="en-US" dirty="0"/>
          </a:p>
          <a:p>
            <a:pPr>
              <a:buFont typeface="+mj-lt"/>
              <a:buAutoNum type="arabicPeriod" startAt="3"/>
            </a:pPr>
            <a:r>
              <a:rPr lang="en-US" b="1" dirty="0"/>
              <a:t>Storage / Files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BlobStore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put(key, bytes)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get(key)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>
                <a:latin typeface="Courier New" panose="02070309020205020404" pitchFamily="49" charset="0"/>
              </a:rPr>
              <a:t>S3Store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AzureBlobStore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GCSStore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LocalFSStore</a:t>
            </a:r>
            <a:endParaRPr lang="en-US" dirty="0"/>
          </a:p>
          <a:p>
            <a:pPr>
              <a:buFont typeface="+mj-lt"/>
              <a:buAutoNum type="arabicPeriod" startAt="4"/>
            </a:pPr>
            <a:r>
              <a:rPr lang="en-US" b="1" dirty="0"/>
              <a:t>Search Index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Searchable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index(doc)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query(q)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ElasticAdapter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SolrAdapter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MeilisearchAdapter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88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DD209E-E60E-1346-0972-DD445C27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68FD93-BCA9-92C3-85FD-63B9026997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Interfaces (capabilities across unrelated types)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603F4BB-3F94-B987-A019-D69D129FD764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A29A-851D-1B6D-1251-8B606AF7EC61}"/>
              </a:ext>
            </a:extLst>
          </p:cNvPr>
          <p:cNvSpPr txBox="1"/>
          <p:nvPr/>
        </p:nvSpPr>
        <p:spPr>
          <a:xfrm>
            <a:off x="304800" y="1828800"/>
            <a:ext cx="9677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6"/>
            </a:pPr>
            <a:r>
              <a:rPr lang="en-US" b="1" dirty="0"/>
              <a:t>Logging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Logger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info()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error()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debug()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FileLogger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ConsoleLogger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RemoteLogger</a:t>
            </a:r>
            <a:endParaRPr lang="en-US" dirty="0"/>
          </a:p>
          <a:p>
            <a:pPr>
              <a:buFont typeface="+mj-lt"/>
              <a:buAutoNum type="arabicPeriod" startAt="7"/>
            </a:pPr>
            <a:r>
              <a:rPr lang="en-US" b="1" dirty="0"/>
              <a:t>Strategy/Algorithm Plug-ins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Compressor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compress(data)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decompress(data)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ZipCompressor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GzipCompressor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LZ4Compressor</a:t>
            </a:r>
            <a:endParaRPr lang="en-US" dirty="0"/>
          </a:p>
          <a:p>
            <a:pPr>
              <a:buFont typeface="+mj-lt"/>
              <a:buAutoNum type="arabicPeriod" startAt="8"/>
            </a:pPr>
            <a:r>
              <a:rPr lang="en-US" b="1" dirty="0"/>
              <a:t>ML Inference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Model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predict(x)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SklearnModel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TensorFlowModel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ONNXModel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RemoteAPIModel</a:t>
            </a:r>
            <a:endParaRPr lang="en-US" dirty="0"/>
          </a:p>
          <a:p>
            <a:pPr>
              <a:buFont typeface="+mj-lt"/>
              <a:buAutoNum type="arabicPeriod" startAt="9"/>
            </a:pPr>
            <a:r>
              <a:rPr lang="en-US" b="1" dirty="0"/>
              <a:t>Parsers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Parser&lt;T&gt;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parse(input): 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JSONParser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XMLParser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CSVParser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YAMLParser</a:t>
            </a:r>
            <a:endParaRPr lang="en-US" dirty="0"/>
          </a:p>
          <a:p>
            <a:pPr>
              <a:buFont typeface="+mj-lt"/>
              <a:buAutoNum type="arabicPeriod" startAt="10"/>
            </a:pPr>
            <a:r>
              <a:rPr lang="en-US" b="1" dirty="0"/>
              <a:t>E-commerce Shipping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Carrier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createLabel</a:t>
            </a:r>
            <a:r>
              <a:rPr lang="en-US" dirty="0">
                <a:latin typeface="Courier New" panose="02070309020205020404" pitchFamily="49" charset="0"/>
              </a:rPr>
              <a:t>(order)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track(id)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Implementations: </a:t>
            </a:r>
            <a:r>
              <a:rPr lang="en-US" dirty="0" err="1">
                <a:latin typeface="Courier New" panose="02070309020205020404" pitchFamily="49" charset="0"/>
              </a:rPr>
              <a:t>DHLCarrier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FedExCarrier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UPSCarrier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LocalCourier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514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3877B2-64C4-DFF6-A38A-ECF81DA3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03744A8-8DB7-73A2-FA15-CE0BC8413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Abstract Classes (shared state + partial implementation)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79527D4-3730-B541-B9AC-5AF6F73F1696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F119A-DB27-6BF1-1162-E7D78FCCD817}"/>
              </a:ext>
            </a:extLst>
          </p:cNvPr>
          <p:cNvSpPr txBox="1"/>
          <p:nvPr/>
        </p:nvSpPr>
        <p:spPr>
          <a:xfrm>
            <a:off x="404495" y="1905000"/>
            <a:ext cx="10744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Web Handlers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HttpHandler</a:t>
            </a:r>
            <a:r>
              <a:rPr lang="en-US" dirty="0">
                <a:latin typeface="Courier New" panose="02070309020205020404" pitchFamily="49" charset="0"/>
              </a:rPr>
              <a:t> { Request req; Response res; handle(); </a:t>
            </a:r>
            <a:r>
              <a:rPr lang="en-US" dirty="0" err="1">
                <a:latin typeface="Courier New" panose="02070309020205020404" pitchFamily="49" charset="0"/>
              </a:rPr>
              <a:t>commonAuth</a:t>
            </a:r>
            <a:r>
              <a:rPr lang="en-US" dirty="0">
                <a:latin typeface="Courier New" panose="02070309020205020404" pitchFamily="49" charset="0"/>
              </a:rPr>
              <a:t>();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 err="1">
                <a:latin typeface="Courier New" panose="02070309020205020404" pitchFamily="49" charset="0"/>
              </a:rPr>
              <a:t>UserHandler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OrderHandler</a:t>
            </a:r>
            <a:r>
              <a:rPr lang="en-US" dirty="0"/>
              <a:t> share request context, helpers</a:t>
            </a:r>
          </a:p>
          <a:p>
            <a:pPr>
              <a:buFont typeface="+mj-lt"/>
              <a:buAutoNum type="arabicPeriod" startAt="2"/>
            </a:pPr>
            <a:r>
              <a:rPr lang="en-US" b="1" dirty="0"/>
              <a:t>Reports / Documents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Report { Data d; generate(){load(); transform(); render();}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 err="1">
                <a:latin typeface="Courier New" panose="02070309020205020404" pitchFamily="49" charset="0"/>
              </a:rPr>
              <a:t>SalesReport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InventoryReport</a:t>
            </a:r>
            <a:r>
              <a:rPr lang="en-US" dirty="0"/>
              <a:t> share pipeline + cache</a:t>
            </a:r>
          </a:p>
          <a:p>
            <a:pPr>
              <a:buFont typeface="+mj-lt"/>
              <a:buAutoNum type="arabicPeriod" startAt="3"/>
            </a:pPr>
            <a:r>
              <a:rPr lang="en-US" b="1" dirty="0"/>
              <a:t>Streams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InputStream</a:t>
            </a:r>
            <a:r>
              <a:rPr lang="en-US" dirty="0">
                <a:latin typeface="Courier New" panose="02070309020205020404" pitchFamily="49" charset="0"/>
              </a:rPr>
              <a:t> { read(), skip(), close()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 err="1">
                <a:latin typeface="Courier New" panose="02070309020205020404" pitchFamily="49" charset="0"/>
              </a:rPr>
              <a:t>FileInputStream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BufferedInputStream</a:t>
            </a:r>
            <a:r>
              <a:rPr lang="en-US" dirty="0"/>
              <a:t> share buffering state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UI Components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View { bounds, theme; draw(); </a:t>
            </a:r>
            <a:r>
              <a:rPr lang="en-US" dirty="0" err="1">
                <a:latin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</a:rPr>
              <a:t>();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>
                <a:latin typeface="Courier New" panose="02070309020205020404" pitchFamily="49" charset="0"/>
              </a:rPr>
              <a:t>Button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TextField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Checkbox</a:t>
            </a:r>
            <a:r>
              <a:rPr lang="en-US" dirty="0"/>
              <a:t> share layout/state</a:t>
            </a:r>
          </a:p>
        </p:txBody>
      </p:sp>
    </p:spTree>
    <p:extLst>
      <p:ext uri="{BB962C8B-B14F-4D97-AF65-F5344CB8AC3E}">
        <p14:creationId xmlns:p14="http://schemas.microsoft.com/office/powerpoint/2010/main" val="2841212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4374BA-EAFC-22D3-5F67-351EF7F7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71E11E7-1EE7-FA70-D183-AC7751794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Abstract Classes (shared state + partial implementation)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56D4306-15C6-F3E5-B5FE-897C8E7096F7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D6A5A-79CC-675F-CFB2-89D88C9E095D}"/>
              </a:ext>
            </a:extLst>
          </p:cNvPr>
          <p:cNvSpPr txBox="1"/>
          <p:nvPr/>
        </p:nvSpPr>
        <p:spPr>
          <a:xfrm>
            <a:off x="381000" y="1981200"/>
            <a:ext cx="9601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5"/>
            </a:pPr>
            <a:r>
              <a:rPr lang="en-US" b="1" dirty="0"/>
              <a:t>Games: Entities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GameObject</a:t>
            </a:r>
            <a:r>
              <a:rPr lang="en-US" dirty="0">
                <a:latin typeface="Courier New" panose="02070309020205020404" pitchFamily="49" charset="0"/>
              </a:rPr>
              <a:t> { position, velocity; update(), draw()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>
                <a:latin typeface="Courier New" panose="02070309020205020404" pitchFamily="49" charset="0"/>
              </a:rPr>
              <a:t>Enemy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Player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NPC</a:t>
            </a:r>
            <a:r>
              <a:rPr lang="en-US" dirty="0"/>
              <a:t> share physics and rendering helpers</a:t>
            </a:r>
          </a:p>
          <a:p>
            <a:pPr>
              <a:buFont typeface="+mj-lt"/>
              <a:buAutoNum type="arabicPeriod" startAt="6"/>
            </a:pPr>
            <a:r>
              <a:rPr lang="en-US" b="1" dirty="0"/>
              <a:t>Sensors/Devices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Sensor { id, </a:t>
            </a:r>
            <a:r>
              <a:rPr lang="en-US" dirty="0" err="1">
                <a:latin typeface="Courier New" panose="02070309020205020404" pitchFamily="49" charset="0"/>
              </a:rPr>
              <a:t>lastReading</a:t>
            </a:r>
            <a:r>
              <a:rPr lang="en-US" dirty="0">
                <a:latin typeface="Courier New" panose="02070309020205020404" pitchFamily="49" charset="0"/>
              </a:rPr>
              <a:t>; calibrate(); read();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 err="1">
                <a:latin typeface="Courier New" panose="02070309020205020404" pitchFamily="49" charset="0"/>
              </a:rPr>
              <a:t>TempSensor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AccelSensor</a:t>
            </a:r>
            <a:r>
              <a:rPr lang="en-US" dirty="0"/>
              <a:t> share sampling window, filters</a:t>
            </a:r>
          </a:p>
          <a:p>
            <a:pPr>
              <a:buFont typeface="+mj-lt"/>
              <a:buAutoNum type="arabicPeriod" startAt="7"/>
            </a:pPr>
            <a:r>
              <a:rPr lang="en-US" b="1" dirty="0"/>
              <a:t>Data Repositories (base behavior)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</a:t>
            </a:r>
            <a:r>
              <a:rPr lang="en-US" dirty="0" err="1">
                <a:latin typeface="Courier New" panose="02070309020205020404" pitchFamily="49" charset="0"/>
              </a:rPr>
              <a:t>BaseRepository</a:t>
            </a:r>
            <a:r>
              <a:rPr lang="en-US" dirty="0">
                <a:latin typeface="Courier New" panose="02070309020205020404" pitchFamily="49" charset="0"/>
              </a:rPr>
              <a:t>&lt;T&gt; { </a:t>
            </a:r>
            <a:r>
              <a:rPr lang="en-US" dirty="0" err="1">
                <a:latin typeface="Courier New" panose="02070309020205020404" pitchFamily="49" charset="0"/>
              </a:rPr>
              <a:t>db</a:t>
            </a:r>
            <a:r>
              <a:rPr lang="en-US" dirty="0">
                <a:latin typeface="Courier New" panose="02070309020205020404" pitchFamily="49" charset="0"/>
              </a:rPr>
              <a:t>; </a:t>
            </a:r>
            <a:r>
              <a:rPr lang="en-US" dirty="0" err="1">
                <a:latin typeface="Courier New" panose="02070309020205020404" pitchFamily="49" charset="0"/>
              </a:rPr>
              <a:t>findById</a:t>
            </a:r>
            <a:r>
              <a:rPr lang="en-US" dirty="0">
                <a:latin typeface="Courier New" panose="02070309020205020404" pitchFamily="49" charset="0"/>
              </a:rPr>
              <a:t>(); save();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 err="1">
                <a:latin typeface="Courier New" panose="02070309020205020404" pitchFamily="49" charset="0"/>
              </a:rPr>
              <a:t>UserRepo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OrderRepo</a:t>
            </a:r>
            <a:r>
              <a:rPr lang="en-US" dirty="0"/>
              <a:t> inherit transactions, retries</a:t>
            </a:r>
          </a:p>
          <a:p>
            <a:pPr>
              <a:buFont typeface="+mj-lt"/>
              <a:buAutoNum type="arabicPeriod" startAt="8"/>
            </a:pPr>
            <a:r>
              <a:rPr lang="en-US" b="1" dirty="0"/>
              <a:t>Financial Instruments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abstract class Instrument { price, currency; </a:t>
            </a:r>
            <a:r>
              <a:rPr lang="en-US" dirty="0" err="1">
                <a:latin typeface="Courier New" panose="02070309020205020404" pitchFamily="49" charset="0"/>
              </a:rPr>
              <a:t>markToMarket</a:t>
            </a:r>
            <a:r>
              <a:rPr lang="en-US" dirty="0">
                <a:latin typeface="Courier New" panose="02070309020205020404" pitchFamily="49" charset="0"/>
              </a:rPr>
              <a:t>(); }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Subclasses: </a:t>
            </a:r>
            <a:r>
              <a:rPr lang="en-US" dirty="0">
                <a:latin typeface="Courier New" panose="02070309020205020404" pitchFamily="49" charset="0"/>
              </a:rPr>
              <a:t>Bond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Stock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Option</a:t>
            </a:r>
            <a:r>
              <a:rPr lang="en-US" dirty="0"/>
              <a:t> share valuation utilities</a:t>
            </a:r>
          </a:p>
        </p:txBody>
      </p:sp>
    </p:spTree>
    <p:extLst>
      <p:ext uri="{BB962C8B-B14F-4D97-AF65-F5344CB8AC3E}">
        <p14:creationId xmlns:p14="http://schemas.microsoft.com/office/powerpoint/2010/main" val="4253683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8EDF9D-90DF-149B-5A6C-57003901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5E328A-5B8D-37EC-5E9B-107C096CE3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Declaring Interfaces (interface keyword)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56DD798-34DA-3388-C992-D466504F1DEF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69454-192E-61FA-2E6A-4E28FC320C9E}"/>
              </a:ext>
            </a:extLst>
          </p:cNvPr>
          <p:cNvSpPr txBox="1"/>
          <p:nvPr/>
        </p:nvSpPr>
        <p:spPr>
          <a:xfrm>
            <a:off x="533400" y="2815228"/>
            <a:ext cx="929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1) Basic 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// File: Payable.java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interface Payable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double </a:t>
            </a:r>
            <a:r>
              <a:rPr lang="en-US" dirty="0" err="1">
                <a:latin typeface="Courier New" panose="02070309020205020404" pitchFamily="49" charset="0"/>
              </a:rPr>
              <a:t>payAmount</a:t>
            </a:r>
            <a:r>
              <a:rPr lang="en-US" dirty="0">
                <a:latin typeface="Courier New" panose="02070309020205020404" pitchFamily="49" charset="0"/>
              </a:rPr>
              <a:t>();          // implicitly public &amp; abstract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05BF8-B4F6-84CA-9596-7CA70E279BE8}"/>
              </a:ext>
            </a:extLst>
          </p:cNvPr>
          <p:cNvSpPr txBox="1"/>
          <p:nvPr/>
        </p:nvSpPr>
        <p:spPr>
          <a:xfrm>
            <a:off x="685800" y="4681835"/>
            <a:ext cx="800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rules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Methods are </a:t>
            </a:r>
            <a:r>
              <a:rPr lang="en-US" b="1" dirty="0"/>
              <a:t>public abstract</a:t>
            </a:r>
            <a:r>
              <a:rPr lang="en-US" dirty="0"/>
              <a:t> by default (even if you omit them).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Fields (if any) are </a:t>
            </a:r>
            <a:r>
              <a:rPr lang="en-US" b="1" dirty="0"/>
              <a:t>public static final</a:t>
            </a:r>
            <a:r>
              <a:rPr lang="en-US" dirty="0"/>
              <a:t> constants by default.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9EA9E81-3A96-BB22-FEC6-F93EACF32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05634"/>
            <a:ext cx="81515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specifies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a type must provide (no instance state).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loose coupling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inheritance of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599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5FFA6C-8688-02AE-CD61-6CA7F855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59548B-A7A2-7F29-4FAA-220E5E96E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Declaring Interfaces (interface keyword)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60533A4-C8A4-2060-CFF9-EF4978703E74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3CECF-90DC-ABC8-7DCC-9F7CBC926DF9}"/>
              </a:ext>
            </a:extLst>
          </p:cNvPr>
          <p:cNvSpPr txBox="1"/>
          <p:nvPr/>
        </p:nvSpPr>
        <p:spPr>
          <a:xfrm>
            <a:off x="457200" y="1328643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2) Implementing an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41E4C-A00C-F9F3-6DF4-D13A87A657E0}"/>
              </a:ext>
            </a:extLst>
          </p:cNvPr>
          <p:cNvSpPr txBox="1"/>
          <p:nvPr/>
        </p:nvSpPr>
        <p:spPr>
          <a:xfrm>
            <a:off x="447368" y="2002596"/>
            <a:ext cx="9829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Invoice implements Payable {</a:t>
            </a:r>
          </a:p>
          <a:p>
            <a:r>
              <a:rPr lang="en-US" dirty="0"/>
              <a:t>    private final double total;</a:t>
            </a:r>
          </a:p>
          <a:p>
            <a:r>
              <a:rPr lang="en-US" dirty="0"/>
              <a:t>    public Invoice(double total) { </a:t>
            </a:r>
            <a:r>
              <a:rPr lang="en-US" dirty="0" err="1"/>
              <a:t>this.total</a:t>
            </a:r>
            <a:r>
              <a:rPr lang="en-US" dirty="0"/>
              <a:t> = total; }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double </a:t>
            </a:r>
            <a:r>
              <a:rPr lang="en-US" dirty="0" err="1"/>
              <a:t>payAmount</a:t>
            </a:r>
            <a:r>
              <a:rPr lang="en-US" dirty="0"/>
              <a:t>() { return total; }  // must implement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AB74BE2-735C-5416-9950-F28ABB952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92" y="4110335"/>
            <a:ext cx="46506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 uses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implements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keyword.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 can 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9013A-33B4-561E-D8DE-592A7BA828B0}"/>
              </a:ext>
            </a:extLst>
          </p:cNvPr>
          <p:cNvSpPr txBox="1"/>
          <p:nvPr/>
        </p:nvSpPr>
        <p:spPr>
          <a:xfrm>
            <a:off x="685800" y="5257800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Drone implements Flyable, Trackable { ... }</a:t>
            </a:r>
          </a:p>
        </p:txBody>
      </p:sp>
    </p:spTree>
    <p:extLst>
      <p:ext uri="{BB962C8B-B14F-4D97-AF65-F5344CB8AC3E}">
        <p14:creationId xmlns:p14="http://schemas.microsoft.com/office/powerpoint/2010/main" val="3743697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E753EF-9213-BDED-3FFF-5EB62FF8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F4FBCA-DC01-8C8B-091E-E1F2C008B0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Interface Implementation (implements) — 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681ACE-8549-24C4-863A-A751B42486F3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DA454-19C4-DA3D-DFFB-6D25C5EE0C91}"/>
              </a:ext>
            </a:extLst>
          </p:cNvPr>
          <p:cNvSpPr txBox="1"/>
          <p:nvPr/>
        </p:nvSpPr>
        <p:spPr>
          <a:xfrm>
            <a:off x="381000" y="1447800"/>
            <a:ext cx="922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1) What does </a:t>
            </a:r>
            <a:r>
              <a:rPr lang="en-US" b="1" dirty="0">
                <a:latin typeface="Courier New" panose="02070309020205020404" pitchFamily="49" charset="0"/>
              </a:rPr>
              <a:t>implements</a:t>
            </a:r>
            <a:r>
              <a:rPr lang="en-US" b="1" dirty="0"/>
              <a:t> do?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Binds a </a:t>
            </a:r>
            <a:r>
              <a:rPr lang="en-US" b="1" dirty="0"/>
              <a:t>class</a:t>
            </a:r>
            <a:r>
              <a:rPr lang="en-US" dirty="0"/>
              <a:t> to a </a:t>
            </a:r>
            <a:r>
              <a:rPr lang="en-US" b="1" dirty="0"/>
              <a:t>contract</a:t>
            </a:r>
            <a:r>
              <a:rPr lang="en-US" dirty="0"/>
              <a:t> (an interface).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must </a:t>
            </a:r>
            <a:r>
              <a:rPr lang="en-US" b="1" dirty="0"/>
              <a:t>provide concrete implementations</a:t>
            </a:r>
            <a:r>
              <a:rPr lang="en-US" dirty="0"/>
              <a:t> for all </a:t>
            </a:r>
            <a:r>
              <a:rPr lang="en-US" b="1" dirty="0"/>
              <a:t>abstract</a:t>
            </a:r>
            <a:r>
              <a:rPr lang="en-US" dirty="0"/>
              <a:t> methods declared by the interface (unless the class is </a:t>
            </a:r>
            <a:r>
              <a:rPr lang="en-US" dirty="0">
                <a:latin typeface="Courier New" panose="02070309020205020404" pitchFamily="49" charset="0"/>
              </a:rPr>
              <a:t>abstract</a:t>
            </a:r>
            <a:r>
              <a:rPr lang="en-US" dirty="0"/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51613-497C-6246-6101-CB800C2ED081}"/>
              </a:ext>
            </a:extLst>
          </p:cNvPr>
          <p:cNvSpPr txBox="1"/>
          <p:nvPr/>
        </p:nvSpPr>
        <p:spPr>
          <a:xfrm>
            <a:off x="356419" y="2984480"/>
            <a:ext cx="9220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2) Basic 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interface Payable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double </a:t>
            </a:r>
            <a:r>
              <a:rPr lang="en-US" dirty="0" err="1">
                <a:latin typeface="Courier New" panose="02070309020205020404" pitchFamily="49" charset="0"/>
              </a:rPr>
              <a:t>payAmount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class Invoice implements Payable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private final double total;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Invoice(double total) { </a:t>
            </a:r>
            <a:r>
              <a:rPr lang="en-US" dirty="0" err="1">
                <a:latin typeface="Courier New" panose="02070309020205020404" pitchFamily="49" charset="0"/>
              </a:rPr>
              <a:t>this.total</a:t>
            </a:r>
            <a:r>
              <a:rPr lang="en-US" dirty="0">
                <a:latin typeface="Courier New" panose="02070309020205020404" pitchFamily="49" charset="0"/>
              </a:rPr>
              <a:t> = total; 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double </a:t>
            </a:r>
            <a:r>
              <a:rPr lang="en-US" dirty="0" err="1">
                <a:latin typeface="Courier New" panose="02070309020205020404" pitchFamily="49" charset="0"/>
              </a:rPr>
              <a:t>payAmount</a:t>
            </a:r>
            <a:r>
              <a:rPr lang="en-US" dirty="0">
                <a:latin typeface="Courier New" panose="02070309020205020404" pitchFamily="49" charset="0"/>
              </a:rPr>
              <a:t>() { return total; }  // required implementation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884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269B8E-F2AF-5739-FD50-D1B3A7B7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89ABABC-E46D-867E-E62C-EACFACF189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Multiple Inheritance via Interfaces (Java)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FDD59B-FDAD-7133-5DDA-118630252E15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56577-81EE-86A2-2A44-9F17CB557EEA}"/>
              </a:ext>
            </a:extLst>
          </p:cNvPr>
          <p:cNvSpPr txBox="1"/>
          <p:nvPr/>
        </p:nvSpPr>
        <p:spPr>
          <a:xfrm>
            <a:off x="685800" y="1285252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1) Core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forbids multiple inheritance of </a:t>
            </a:r>
            <a:r>
              <a:rPr lang="en-US" b="1" dirty="0"/>
              <a:t>classes</a:t>
            </a:r>
            <a:r>
              <a:rPr lang="en-US" dirty="0"/>
              <a:t> but allows multiple inheritance of </a:t>
            </a:r>
            <a:r>
              <a:rPr lang="en-US" b="1" dirty="0"/>
              <a:t>type</a:t>
            </a:r>
            <a:r>
              <a:rPr lang="en-US" dirty="0"/>
              <a:t> via </a:t>
            </a:r>
            <a:r>
              <a:rPr lang="en-US" b="1" dirty="0"/>
              <a:t>interfaces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can </a:t>
            </a:r>
            <a:r>
              <a:rPr lang="en-US" dirty="0">
                <a:latin typeface="Courier New" panose="02070309020205020404" pitchFamily="49" charset="0"/>
              </a:rPr>
              <a:t>implements</a:t>
            </a:r>
            <a:r>
              <a:rPr lang="en-US" dirty="0"/>
              <a:t> </a:t>
            </a:r>
            <a:r>
              <a:rPr lang="en-US" b="1" dirty="0"/>
              <a:t>many</a:t>
            </a:r>
            <a:r>
              <a:rPr lang="en-US" dirty="0"/>
              <a:t> interfaces → gains multiple </a:t>
            </a:r>
            <a:r>
              <a:rPr lang="en-US" b="1" dirty="0"/>
              <a:t>capabilities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90943-0DA0-ACC0-3B76-75EE150CE38D}"/>
              </a:ext>
            </a:extLst>
          </p:cNvPr>
          <p:cNvSpPr txBox="1"/>
          <p:nvPr/>
        </p:nvSpPr>
        <p:spPr>
          <a:xfrm>
            <a:off x="663677" y="2534169"/>
            <a:ext cx="10058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2) Basic Example — Multiple </a:t>
            </a:r>
            <a:r>
              <a:rPr lang="en-US" b="1" dirty="0">
                <a:latin typeface="Courier New" panose="02070309020205020404" pitchFamily="49" charset="0"/>
              </a:rPr>
              <a:t>implements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Flyable { void fly();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Trackable { void track(); 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class Drone implements Flyable, Trackable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 public void fly()  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("Taking off…");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 public void track()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("GPS locked.");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E88C7-64B6-FCD6-C632-6CE386BCEBFB}"/>
              </a:ext>
            </a:extLst>
          </p:cNvPr>
          <p:cNvSpPr txBox="1"/>
          <p:nvPr/>
        </p:nvSpPr>
        <p:spPr>
          <a:xfrm>
            <a:off x="533400" y="5486400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Drone</a:t>
            </a:r>
            <a:r>
              <a:rPr lang="en-US" dirty="0"/>
              <a:t> inherits </a:t>
            </a:r>
            <a:r>
              <a:rPr lang="en-US" b="1" dirty="0"/>
              <a:t>two contracts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Flyable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</a:rPr>
              <a:t>Trackable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48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ACE035-D04D-31DF-A23D-7EDCE15D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2763682-D078-14C4-6B0B-B1EC826D62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Multiple Inheritance via Interfaces (Java)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6822713-8FD3-2C88-107B-CCB2D5202937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8086F-2D44-D999-0490-BE6C18ED5128}"/>
              </a:ext>
            </a:extLst>
          </p:cNvPr>
          <p:cNvSpPr txBox="1"/>
          <p:nvPr/>
        </p:nvSpPr>
        <p:spPr>
          <a:xfrm>
            <a:off x="685800" y="1285252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1) Core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forbids multiple inheritance of </a:t>
            </a:r>
            <a:r>
              <a:rPr lang="en-US" b="1" dirty="0"/>
              <a:t>classes</a:t>
            </a:r>
            <a:r>
              <a:rPr lang="en-US" dirty="0"/>
              <a:t> but allows multiple inheritance of </a:t>
            </a:r>
            <a:r>
              <a:rPr lang="en-US" b="1" dirty="0"/>
              <a:t>type</a:t>
            </a:r>
            <a:r>
              <a:rPr lang="en-US" dirty="0"/>
              <a:t> via </a:t>
            </a:r>
            <a:r>
              <a:rPr lang="en-US" b="1" dirty="0"/>
              <a:t>interfaces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can </a:t>
            </a:r>
            <a:r>
              <a:rPr lang="en-US" dirty="0">
                <a:latin typeface="Courier New" panose="02070309020205020404" pitchFamily="49" charset="0"/>
              </a:rPr>
              <a:t>implements</a:t>
            </a:r>
            <a:r>
              <a:rPr lang="en-US" dirty="0"/>
              <a:t> </a:t>
            </a:r>
            <a:r>
              <a:rPr lang="en-US" b="1" dirty="0"/>
              <a:t>many</a:t>
            </a:r>
            <a:r>
              <a:rPr lang="en-US" dirty="0"/>
              <a:t> interfaces → gains multiple </a:t>
            </a:r>
            <a:r>
              <a:rPr lang="en-US" b="1" dirty="0"/>
              <a:t>capabilities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37F5D-DB0B-6BCB-E449-970504B2919B}"/>
              </a:ext>
            </a:extLst>
          </p:cNvPr>
          <p:cNvSpPr txBox="1"/>
          <p:nvPr/>
        </p:nvSpPr>
        <p:spPr>
          <a:xfrm>
            <a:off x="663677" y="2534169"/>
            <a:ext cx="10058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2) Basic Example — Multiple </a:t>
            </a:r>
            <a:r>
              <a:rPr lang="en-US" b="1" dirty="0">
                <a:latin typeface="Courier New" panose="02070309020205020404" pitchFamily="49" charset="0"/>
              </a:rPr>
              <a:t>implements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Flyable { void fly();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Trackable { void track(); 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class Drone implements Flyable, Trackable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 public void fly()  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("Taking off…");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@Override public void track()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("GPS locked.");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B1820-A5BE-179F-F47D-1B05B4BDB253}"/>
              </a:ext>
            </a:extLst>
          </p:cNvPr>
          <p:cNvSpPr txBox="1"/>
          <p:nvPr/>
        </p:nvSpPr>
        <p:spPr>
          <a:xfrm>
            <a:off x="533400" y="5486400"/>
            <a:ext cx="600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Drone</a:t>
            </a:r>
            <a:r>
              <a:rPr lang="en-US" dirty="0"/>
              <a:t> inherits </a:t>
            </a:r>
            <a:r>
              <a:rPr lang="en-US" b="1" dirty="0"/>
              <a:t>two contracts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Flyable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</a:rPr>
              <a:t>Trackable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5797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F383EF-CB06-935C-C720-12A94585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B957AEF-D5C5-E359-D1E7-33298457B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Extending Interfaces in Java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F2A592A-11A5-4B71-D0A3-15501499E124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AB984-C1D8-921D-400E-01488696CB8E}"/>
              </a:ext>
            </a:extLst>
          </p:cNvPr>
          <p:cNvSpPr txBox="1"/>
          <p:nvPr/>
        </p:nvSpPr>
        <p:spPr>
          <a:xfrm>
            <a:off x="381000" y="1397675"/>
            <a:ext cx="10591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Java, </a:t>
            </a:r>
            <a:r>
              <a:rPr lang="en-US" b="1" dirty="0"/>
              <a:t>interfaces can inherit</a:t>
            </a:r>
            <a:r>
              <a:rPr lang="en-US" dirty="0"/>
              <a:t> from one or more </a:t>
            </a:r>
            <a:r>
              <a:rPr lang="en-US" b="1" dirty="0"/>
              <a:t>other interfaces</a:t>
            </a:r>
            <a:r>
              <a:rPr lang="en-US" dirty="0"/>
              <a:t> using the </a:t>
            </a:r>
            <a:r>
              <a:rPr lang="en-US" dirty="0">
                <a:latin typeface="Courier New" panose="02070309020205020404" pitchFamily="49" charset="0"/>
              </a:rPr>
              <a:t>extends</a:t>
            </a:r>
            <a:r>
              <a:rPr lang="en-US" dirty="0"/>
              <a:t>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Unlike classes, </a:t>
            </a:r>
            <a:r>
              <a:rPr lang="en-US" b="1" dirty="0"/>
              <a:t>interfaces support multiple inheritance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sub-interface inherits all </a:t>
            </a:r>
            <a:r>
              <a:rPr lang="en-US" b="1" dirty="0"/>
              <a:t>abstract methods</a:t>
            </a:r>
            <a:r>
              <a:rPr lang="en-US" dirty="0"/>
              <a:t>, </a:t>
            </a:r>
            <a:r>
              <a:rPr lang="en-US" b="1" dirty="0"/>
              <a:t>constants</a:t>
            </a:r>
            <a:r>
              <a:rPr lang="en-US" dirty="0"/>
              <a:t>, and </a:t>
            </a:r>
            <a:r>
              <a:rPr lang="en-US" b="1" dirty="0"/>
              <a:t>default methods</a:t>
            </a:r>
            <a:r>
              <a:rPr lang="en-US" dirty="0"/>
              <a:t> from parent interfaces.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92D7E-785E-F80B-C701-4D692ADD2044}"/>
              </a:ext>
            </a:extLst>
          </p:cNvPr>
          <p:cNvSpPr txBox="1"/>
          <p:nvPr/>
        </p:nvSpPr>
        <p:spPr>
          <a:xfrm>
            <a:off x="381000" y="3278153"/>
            <a:ext cx="60025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Basic Syntax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A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show();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B extends A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void display();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44AF2-6D3D-3DEF-3DA3-2BB36F4BDFEF}"/>
              </a:ext>
            </a:extLst>
          </p:cNvPr>
          <p:cNvSpPr txBox="1"/>
          <p:nvPr/>
        </p:nvSpPr>
        <p:spPr>
          <a:xfrm>
            <a:off x="408039" y="5460325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B</a:t>
            </a:r>
            <a:r>
              <a:rPr lang="en-US" dirty="0"/>
              <a:t> inherits method </a:t>
            </a:r>
            <a:r>
              <a:rPr lang="en-US" dirty="0">
                <a:latin typeface="Courier New" panose="02070309020205020404" pitchFamily="49" charset="0"/>
              </a:rPr>
              <a:t>show()</a:t>
            </a:r>
            <a:r>
              <a:rPr lang="en-US" dirty="0"/>
              <a:t> from </a:t>
            </a:r>
            <a:r>
              <a:rPr lang="en-US" dirty="0">
                <a:latin typeface="Courier New" panose="02070309020205020404" pitchFamily="49" charset="0"/>
              </a:rPr>
              <a:t>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class implementing </a:t>
            </a:r>
            <a:r>
              <a:rPr lang="en-US" dirty="0">
                <a:latin typeface="Courier New" panose="02070309020205020404" pitchFamily="49" charset="0"/>
              </a:rPr>
              <a:t>B</a:t>
            </a:r>
            <a:r>
              <a:rPr lang="en-US" dirty="0"/>
              <a:t> must provide implementations for </a:t>
            </a:r>
            <a:r>
              <a:rPr lang="en-US" b="1" dirty="0"/>
              <a:t>both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show()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display()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5143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10954A-F520-F3A1-18EE-2FB7A1BF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BD16005-EA67-64B5-229B-972E05F1E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Extending Interfaces in Java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5A42E22-EA26-5EFA-D511-113215908923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B219E-D5D3-1C9B-0BF5-4443A4462880}"/>
              </a:ext>
            </a:extLst>
          </p:cNvPr>
          <p:cNvSpPr txBox="1"/>
          <p:nvPr/>
        </p:nvSpPr>
        <p:spPr>
          <a:xfrm>
            <a:off x="533400" y="1447800"/>
            <a:ext cx="600259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— Single Inheritance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eat();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Dog extends Animal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bark();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Labrador implements Dog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eat()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("Eating food");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bark()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("Barking loudly");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26AFF-4613-E9E2-0650-0C2301C729F0}"/>
              </a:ext>
            </a:extLst>
          </p:cNvPr>
          <p:cNvSpPr txBox="1"/>
          <p:nvPr/>
        </p:nvSpPr>
        <p:spPr>
          <a:xfrm>
            <a:off x="6533534" y="2362200"/>
            <a:ext cx="6002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Eating food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Barking loudly</a:t>
            </a:r>
          </a:p>
        </p:txBody>
      </p:sp>
    </p:spTree>
    <p:extLst>
      <p:ext uri="{BB962C8B-B14F-4D97-AF65-F5344CB8AC3E}">
        <p14:creationId xmlns:p14="http://schemas.microsoft.com/office/powerpoint/2010/main" val="1384608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A90703-8ABD-68CA-C13D-4D00E7F1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8BA21AF-AFFE-A0CB-7E00-B874BB849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Extending Interfaces in Java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B490BF7-F631-0A79-7880-CF56FE03E88B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C5AC9-263C-A3A6-662B-922B4ED47E6A}"/>
              </a:ext>
            </a:extLst>
          </p:cNvPr>
          <p:cNvSpPr txBox="1"/>
          <p:nvPr/>
        </p:nvSpPr>
        <p:spPr>
          <a:xfrm>
            <a:off x="152400" y="1371600"/>
            <a:ext cx="6477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— Multiple Inheritance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A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</a:t>
            </a:r>
            <a:r>
              <a:rPr lang="en-US" dirty="0" err="1">
                <a:latin typeface="Courier New" panose="02070309020205020404" pitchFamily="49" charset="0"/>
              </a:rPr>
              <a:t>msgA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B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</a:t>
            </a:r>
            <a:r>
              <a:rPr lang="en-US" dirty="0" err="1">
                <a:latin typeface="Courier New" panose="02070309020205020404" pitchFamily="49" charset="0"/>
              </a:rPr>
              <a:t>msgB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C extends A, B {  // multiple inheritance of type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</a:t>
            </a:r>
            <a:r>
              <a:rPr lang="en-US" dirty="0" err="1">
                <a:latin typeface="Courier New" panose="02070309020205020404" pitchFamily="49" charset="0"/>
              </a:rPr>
              <a:t>msgC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Demo implements C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</a:t>
            </a:r>
            <a:r>
              <a:rPr lang="en-US" dirty="0" err="1">
                <a:latin typeface="Courier New" panose="02070309020205020404" pitchFamily="49" charset="0"/>
              </a:rPr>
              <a:t>msgA</a:t>
            </a:r>
            <a:r>
              <a:rPr lang="en-US" dirty="0">
                <a:latin typeface="Courier New" panose="02070309020205020404" pitchFamily="49" charset="0"/>
              </a:rPr>
              <a:t>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("Message A");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</a:t>
            </a:r>
            <a:r>
              <a:rPr lang="en-US" dirty="0" err="1">
                <a:latin typeface="Courier New" panose="02070309020205020404" pitchFamily="49" charset="0"/>
              </a:rPr>
              <a:t>msgB</a:t>
            </a:r>
            <a:r>
              <a:rPr lang="en-US" dirty="0">
                <a:latin typeface="Courier New" panose="02070309020205020404" pitchFamily="49" charset="0"/>
              </a:rPr>
              <a:t>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("Message B");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</a:t>
            </a:r>
            <a:r>
              <a:rPr lang="en-US" dirty="0" err="1">
                <a:latin typeface="Courier New" panose="02070309020205020404" pitchFamily="49" charset="0"/>
              </a:rPr>
              <a:t>msgC</a:t>
            </a:r>
            <a:r>
              <a:rPr lang="en-US" dirty="0">
                <a:latin typeface="Courier New" panose="02070309020205020404" pitchFamily="49" charset="0"/>
              </a:rPr>
              <a:t>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("Message C");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7B26C-068D-5934-93D0-3DBAEAF6DED3}"/>
              </a:ext>
            </a:extLst>
          </p:cNvPr>
          <p:cNvSpPr txBox="1"/>
          <p:nvPr/>
        </p:nvSpPr>
        <p:spPr>
          <a:xfrm>
            <a:off x="5943600" y="1371600"/>
            <a:ext cx="60025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✅ </a:t>
            </a:r>
            <a:r>
              <a:rPr lang="en-US" b="1"/>
              <a:t>Output:</a:t>
            </a:r>
            <a:endParaRPr lang="en-US"/>
          </a:p>
          <a:p>
            <a:pPr rtl="0">
              <a:buNone/>
            </a:pPr>
            <a:r>
              <a:rPr lang="en-US">
                <a:latin typeface="Courier New" panose="02070309020205020404" pitchFamily="49" charset="0"/>
              </a:rPr>
              <a:t>Message A</a:t>
            </a:r>
          </a:p>
          <a:p>
            <a:pPr rtl="0">
              <a:buNone/>
            </a:pPr>
            <a:r>
              <a:rPr lang="en-US">
                <a:latin typeface="Courier New" panose="02070309020205020404" pitchFamily="49" charset="0"/>
              </a:rPr>
              <a:t>Message B</a:t>
            </a:r>
          </a:p>
          <a:p>
            <a:pPr rtl="0">
              <a:buNone/>
            </a:pPr>
            <a:r>
              <a:rPr lang="en-US">
                <a:latin typeface="Courier New" panose="02070309020205020404" pitchFamily="49" charset="0"/>
              </a:rPr>
              <a:t>Message C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4EBF0-3CB4-C0DC-6E47-D09C43B56397}"/>
              </a:ext>
            </a:extLst>
          </p:cNvPr>
          <p:cNvSpPr txBox="1"/>
          <p:nvPr/>
        </p:nvSpPr>
        <p:spPr>
          <a:xfrm>
            <a:off x="5899355" y="2921965"/>
            <a:ext cx="60320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Points</a:t>
            </a:r>
          </a:p>
          <a:p>
            <a:r>
              <a:rPr lang="en-US" dirty="0"/>
              <a:t>✔ An interface can </a:t>
            </a:r>
            <a:r>
              <a:rPr lang="en-US" b="1" dirty="0"/>
              <a:t>extend multiple interfaces</a:t>
            </a:r>
            <a:r>
              <a:rPr lang="en-US" dirty="0"/>
              <a:t>.</a:t>
            </a:r>
          </a:p>
          <a:p>
            <a:r>
              <a:rPr lang="en-US" dirty="0"/>
              <a:t>✔ A class </a:t>
            </a:r>
            <a:r>
              <a:rPr lang="en-US" b="1" dirty="0"/>
              <a:t>implements</a:t>
            </a:r>
            <a:r>
              <a:rPr lang="en-US" dirty="0"/>
              <a:t> the child interface to get all methods.</a:t>
            </a:r>
          </a:p>
          <a:p>
            <a:r>
              <a:rPr lang="en-US" dirty="0"/>
              <a:t>✔ Helps achieve </a:t>
            </a:r>
            <a:r>
              <a:rPr lang="en-US" b="1" dirty="0"/>
              <a:t>multiple inheritance</a:t>
            </a:r>
            <a:r>
              <a:rPr lang="en-US" dirty="0"/>
              <a:t> safely (no diamond problem).</a:t>
            </a:r>
          </a:p>
          <a:p>
            <a:r>
              <a:rPr lang="en-US" dirty="0"/>
              <a:t>✔ Useful for designing </a:t>
            </a:r>
            <a:r>
              <a:rPr lang="en-US" b="1" dirty="0"/>
              <a:t>modular, extensible APIs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45474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0FA91E-12D6-74E4-5E2F-3FBF2D4B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19A4BFA-BED9-746A-86EF-7D3800A3A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57200"/>
            <a:ext cx="11248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Extending Interfaces in Java</a:t>
            </a:r>
            <a:endParaRPr spc="-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210A8C8-0E5D-0179-8E6B-855B85E35B56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19876-E023-F7E7-3727-E91A0B871EDA}"/>
              </a:ext>
            </a:extLst>
          </p:cNvPr>
          <p:cNvSpPr txBox="1"/>
          <p:nvPr/>
        </p:nvSpPr>
        <p:spPr>
          <a:xfrm>
            <a:off x="304800" y="1295400"/>
            <a:ext cx="63270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Real-World 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Readable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read();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Writable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write();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</a:t>
            </a:r>
            <a:r>
              <a:rPr lang="en-US" dirty="0" err="1">
                <a:latin typeface="Courier New" panose="02070309020205020404" pitchFamily="49" charset="0"/>
              </a:rPr>
              <a:t>FileAccess</a:t>
            </a:r>
            <a:r>
              <a:rPr lang="en-US" dirty="0">
                <a:latin typeface="Courier New" panose="02070309020205020404" pitchFamily="49" charset="0"/>
              </a:rPr>
              <a:t> extends Readable, Writable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void open();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</a:rPr>
              <a:t>TextFile</a:t>
            </a:r>
            <a:r>
              <a:rPr lang="en-US" dirty="0">
                <a:latin typeface="Courier New" panose="02070309020205020404" pitchFamily="49" charset="0"/>
              </a:rPr>
              <a:t> implements </a:t>
            </a:r>
            <a:r>
              <a:rPr lang="en-US" dirty="0" err="1">
                <a:latin typeface="Courier New" panose="02070309020205020404" pitchFamily="49" charset="0"/>
              </a:rPr>
              <a:t>FileAccess</a:t>
            </a:r>
            <a:r>
              <a:rPr lang="en-US" dirty="0">
                <a:latin typeface="Courier New" panose="02070309020205020404" pitchFamily="49" charset="0"/>
              </a:rPr>
              <a:t>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read()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("Reading text file");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write()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("Writing to text file");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public void open() {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("Opening text file"); }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07494-2142-8930-BC36-9C67B7DDC572}"/>
              </a:ext>
            </a:extLst>
          </p:cNvPr>
          <p:cNvSpPr txBox="1"/>
          <p:nvPr/>
        </p:nvSpPr>
        <p:spPr>
          <a:xfrm>
            <a:off x="5257800" y="1714500"/>
            <a:ext cx="6649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Combines multiple capabilities → </a:t>
            </a:r>
            <a:r>
              <a:rPr lang="en-US" b="1" dirty="0"/>
              <a:t>Readable + Writable + </a:t>
            </a:r>
            <a:r>
              <a:rPr lang="en-US" b="1" dirty="0" err="1"/>
              <a:t>FileAccess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21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119E99-E59F-E475-1716-BA65A5C3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130F38-8626-42DB-02C7-A4C583D3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10219690" cy="574039"/>
          </a:xfrm>
        </p:spPr>
        <p:txBody>
          <a:bodyPr/>
          <a:lstStyle/>
          <a:p>
            <a:r>
              <a:rPr lang="en-US" dirty="0"/>
              <a:t>Abstract Class vs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0772A-9342-A079-C5BE-AC3F0968BC13}"/>
              </a:ext>
            </a:extLst>
          </p:cNvPr>
          <p:cNvSpPr txBox="1"/>
          <p:nvPr/>
        </p:nvSpPr>
        <p:spPr>
          <a:xfrm>
            <a:off x="228129" y="1088636"/>
            <a:ext cx="103730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Similarities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Abstraction:</a:t>
            </a:r>
            <a:r>
              <a:rPr lang="en-US" dirty="0"/>
              <a:t> Both define </a:t>
            </a:r>
            <a:r>
              <a:rPr lang="en-US" i="1" dirty="0"/>
              <a:t>what</a:t>
            </a:r>
            <a:r>
              <a:rPr lang="en-US" dirty="0"/>
              <a:t> to do, hiding </a:t>
            </a:r>
            <a:r>
              <a:rPr lang="en-US" i="1" dirty="0"/>
              <a:t>how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Polymorphism:</a:t>
            </a:r>
            <a:r>
              <a:rPr lang="en-US" dirty="0"/>
              <a:t> Variables/parameters can be typed to the abstraction.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Contracts:</a:t>
            </a:r>
            <a:r>
              <a:rPr lang="en-US" dirty="0"/>
              <a:t> Both specify required methods for implementors/subclasses.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Cannot be instantiated:</a:t>
            </a:r>
            <a:r>
              <a:rPr lang="en-US" dirty="0"/>
              <a:t> You can’t </a:t>
            </a:r>
            <a:r>
              <a:rPr lang="en-US" dirty="0">
                <a:latin typeface="Courier New" panose="02070309020205020404" pitchFamily="49" charset="0"/>
              </a:rPr>
              <a:t>new</a:t>
            </a:r>
            <a:r>
              <a:rPr lang="en-US" dirty="0"/>
              <a:t> an interface or abstract class directly.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A6E464-4CC8-0850-5F2A-884B98675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383145"/>
              </p:ext>
            </p:extLst>
          </p:nvPr>
        </p:nvGraphicFramePr>
        <p:xfrm>
          <a:off x="196174" y="2565964"/>
          <a:ext cx="10734369" cy="423957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95168">
                  <a:extLst>
                    <a:ext uri="{9D8B030D-6E8A-4147-A177-3AD203B41FA5}">
                      <a16:colId xmlns:a16="http://schemas.microsoft.com/office/drawing/2014/main" val="244104303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256270261"/>
                    </a:ext>
                  </a:extLst>
                </a:gridCol>
                <a:gridCol w="4648201">
                  <a:extLst>
                    <a:ext uri="{9D8B030D-6E8A-4147-A177-3AD203B41FA5}">
                      <a16:colId xmlns:a16="http://schemas.microsoft.com/office/drawing/2014/main" val="1842883027"/>
                    </a:ext>
                  </a:extLst>
                </a:gridCol>
              </a:tblGrid>
              <a:tr h="15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Abstract Class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1376514828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Common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+ partial implementation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a related family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Capability/contract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shared across possibly unrelated classes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1137608637"/>
                  </a:ext>
                </a:extLst>
              </a:tr>
              <a:tr h="395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Inheritance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class inheritance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interfaces can be implemented; interfaces can extend </a:t>
                      </a: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interfaces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1963727430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(fields)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Can have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instance fields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constructors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✖ No instance state (only public static final constants)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1374729528"/>
                  </a:ext>
                </a:extLst>
              </a:tr>
              <a:tr h="395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 of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abstract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concrete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access modifiers allowed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 are public by default; </a:t>
                      </a: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abstract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default/static (and private helpers since Java 9)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3313281601"/>
                  </a:ext>
                </a:extLst>
              </a:tr>
              <a:tr h="15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Constructors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Yes (for shared 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✖ No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1444783098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Modifiers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Fields/methods can be private/protected/public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 are effectively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helpers can be private (Java 9+)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3209410777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Evolution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Safer to add new concrete methods/fields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Adding new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abstract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methods is breaking; prefer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methods</a:t>
                      </a: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2912451596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With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types are </a:t>
                      </a: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closely related</a:t>
                      </a: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share state/behavior</a:t>
                      </a:r>
                    </a:p>
                  </a:txBody>
                  <a:tcPr marL="37571" marR="37571" marT="18785" marB="18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you need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capabilities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across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unrelated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types, or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roles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7571" marR="37571" marT="18785" marB="18785" anchor="ctr"/>
                </a:tc>
                <a:extLst>
                  <a:ext uri="{0D108BD9-81ED-4DB2-BD59-A6C34878D82A}">
                    <a16:rowId xmlns:a16="http://schemas.microsoft.com/office/drawing/2014/main" val="43078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197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7200" y="2895600"/>
            <a:ext cx="3575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0" dirty="0"/>
              <a:t>Thank</a:t>
            </a:r>
            <a:r>
              <a:rPr sz="4800" spc="-550" dirty="0"/>
              <a:t> </a:t>
            </a:r>
            <a:r>
              <a:rPr sz="4800" spc="-60" dirty="0"/>
              <a:t>You!</a:t>
            </a:r>
            <a:endParaRPr sz="4800" dirty="0"/>
          </a:p>
        </p:txBody>
      </p:sp>
      <p:sp>
        <p:nvSpPr>
          <p:cNvPr id="3" name="object 3"/>
          <p:cNvSpPr/>
          <p:nvPr/>
        </p:nvSpPr>
        <p:spPr>
          <a:xfrm>
            <a:off x="-76200" y="9832"/>
            <a:ext cx="2361565" cy="1377315"/>
          </a:xfrm>
          <a:custGeom>
            <a:avLst/>
            <a:gdLst/>
            <a:ahLst/>
            <a:cxnLst/>
            <a:rect l="l" t="t" r="r" b="b"/>
            <a:pathLst>
              <a:path w="2361565" h="1377315">
                <a:moveTo>
                  <a:pt x="342825" y="1346846"/>
                </a:moveTo>
                <a:lnTo>
                  <a:pt x="231198" y="1356612"/>
                </a:lnTo>
                <a:lnTo>
                  <a:pt x="0" y="1356612"/>
                </a:lnTo>
                <a:lnTo>
                  <a:pt x="0" y="0"/>
                </a:lnTo>
                <a:lnTo>
                  <a:pt x="2361070" y="0"/>
                </a:lnTo>
                <a:lnTo>
                  <a:pt x="2359671" y="10412"/>
                </a:lnTo>
                <a:lnTo>
                  <a:pt x="2353121" y="35812"/>
                </a:lnTo>
                <a:lnTo>
                  <a:pt x="2345161" y="73912"/>
                </a:lnTo>
                <a:lnTo>
                  <a:pt x="2335808" y="112012"/>
                </a:lnTo>
                <a:lnTo>
                  <a:pt x="2325080" y="137412"/>
                </a:lnTo>
                <a:lnTo>
                  <a:pt x="2312993" y="175512"/>
                </a:lnTo>
                <a:lnTo>
                  <a:pt x="2299564" y="213612"/>
                </a:lnTo>
                <a:lnTo>
                  <a:pt x="2284811" y="239012"/>
                </a:lnTo>
                <a:lnTo>
                  <a:pt x="2268752" y="277112"/>
                </a:lnTo>
                <a:lnTo>
                  <a:pt x="2251403" y="302512"/>
                </a:lnTo>
                <a:lnTo>
                  <a:pt x="2232781" y="340612"/>
                </a:lnTo>
                <a:lnTo>
                  <a:pt x="2212904" y="366012"/>
                </a:lnTo>
                <a:lnTo>
                  <a:pt x="2191788" y="404112"/>
                </a:lnTo>
                <a:lnTo>
                  <a:pt x="2169452" y="429512"/>
                </a:lnTo>
                <a:lnTo>
                  <a:pt x="2145912" y="467612"/>
                </a:lnTo>
                <a:lnTo>
                  <a:pt x="2121185" y="493012"/>
                </a:lnTo>
                <a:lnTo>
                  <a:pt x="2095289" y="531112"/>
                </a:lnTo>
                <a:lnTo>
                  <a:pt x="2068241" y="556512"/>
                </a:lnTo>
                <a:lnTo>
                  <a:pt x="2040058" y="581912"/>
                </a:lnTo>
                <a:lnTo>
                  <a:pt x="2010756" y="620012"/>
                </a:lnTo>
                <a:lnTo>
                  <a:pt x="1980355" y="645412"/>
                </a:lnTo>
                <a:lnTo>
                  <a:pt x="1948870" y="670812"/>
                </a:lnTo>
                <a:lnTo>
                  <a:pt x="1916319" y="696212"/>
                </a:lnTo>
                <a:lnTo>
                  <a:pt x="1882718" y="734312"/>
                </a:lnTo>
                <a:lnTo>
                  <a:pt x="1848086" y="759712"/>
                </a:lnTo>
                <a:lnTo>
                  <a:pt x="1812440" y="785112"/>
                </a:lnTo>
                <a:lnTo>
                  <a:pt x="1775796" y="810512"/>
                </a:lnTo>
                <a:lnTo>
                  <a:pt x="1738171" y="835912"/>
                </a:lnTo>
                <a:lnTo>
                  <a:pt x="1699584" y="861312"/>
                </a:lnTo>
                <a:lnTo>
                  <a:pt x="1660051" y="886712"/>
                </a:lnTo>
                <a:lnTo>
                  <a:pt x="1619589" y="912112"/>
                </a:lnTo>
                <a:lnTo>
                  <a:pt x="1578216" y="937512"/>
                </a:lnTo>
                <a:lnTo>
                  <a:pt x="1535949" y="962912"/>
                </a:lnTo>
                <a:lnTo>
                  <a:pt x="1492804" y="988312"/>
                </a:lnTo>
                <a:lnTo>
                  <a:pt x="1448800" y="1013712"/>
                </a:lnTo>
                <a:lnTo>
                  <a:pt x="1403953" y="1026412"/>
                </a:lnTo>
                <a:lnTo>
                  <a:pt x="1311800" y="1077212"/>
                </a:lnTo>
                <a:lnTo>
                  <a:pt x="1264528" y="1089912"/>
                </a:lnTo>
                <a:lnTo>
                  <a:pt x="1216482" y="1115312"/>
                </a:lnTo>
                <a:lnTo>
                  <a:pt x="1167680" y="1128012"/>
                </a:lnTo>
                <a:lnTo>
                  <a:pt x="1118138" y="1153412"/>
                </a:lnTo>
                <a:lnTo>
                  <a:pt x="1067874" y="1166112"/>
                </a:lnTo>
                <a:lnTo>
                  <a:pt x="1016905" y="1191512"/>
                </a:lnTo>
                <a:lnTo>
                  <a:pt x="912921" y="1216912"/>
                </a:lnTo>
                <a:lnTo>
                  <a:pt x="859940" y="1242312"/>
                </a:lnTo>
                <a:lnTo>
                  <a:pt x="507751" y="1323065"/>
                </a:lnTo>
                <a:lnTo>
                  <a:pt x="414629" y="1331212"/>
                </a:lnTo>
                <a:lnTo>
                  <a:pt x="342825" y="1346846"/>
                </a:lnTo>
                <a:close/>
              </a:path>
              <a:path w="2361565" h="1377315">
                <a:moveTo>
                  <a:pt x="231198" y="1356612"/>
                </a:moveTo>
                <a:lnTo>
                  <a:pt x="86037" y="1369312"/>
                </a:lnTo>
                <a:lnTo>
                  <a:pt x="0" y="1369312"/>
                </a:lnTo>
                <a:lnTo>
                  <a:pt x="0" y="1356612"/>
                </a:lnTo>
                <a:lnTo>
                  <a:pt x="231198" y="1356612"/>
                </a:lnTo>
                <a:close/>
              </a:path>
              <a:path w="2361565" h="1377315">
                <a:moveTo>
                  <a:pt x="472219" y="1331212"/>
                </a:moveTo>
                <a:lnTo>
                  <a:pt x="414629" y="1331212"/>
                </a:lnTo>
                <a:lnTo>
                  <a:pt x="507751" y="1323065"/>
                </a:lnTo>
                <a:lnTo>
                  <a:pt x="472219" y="1331212"/>
                </a:lnTo>
                <a:close/>
              </a:path>
              <a:path w="2361565" h="1377315">
                <a:moveTo>
                  <a:pt x="86037" y="1369312"/>
                </a:moveTo>
                <a:lnTo>
                  <a:pt x="0" y="1376839"/>
                </a:lnTo>
                <a:lnTo>
                  <a:pt x="0" y="1369312"/>
                </a:lnTo>
                <a:lnTo>
                  <a:pt x="86037" y="1369312"/>
                </a:lnTo>
                <a:close/>
              </a:path>
            </a:pathLst>
          </a:custGeom>
          <a:solidFill>
            <a:srgbClr val="90ED9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3715</Words>
  <Application>Microsoft Office PowerPoint</Application>
  <PresentationFormat>Custom</PresentationFormat>
  <Paragraphs>647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 Black</vt:lpstr>
      <vt:lpstr>Arial Unicode MS</vt:lpstr>
      <vt:lpstr>Courier New</vt:lpstr>
      <vt:lpstr>Lucida Sans Unicode</vt:lpstr>
      <vt:lpstr>Office Theme</vt:lpstr>
      <vt:lpstr>Module: Abstraction in Object-Oriented Programming</vt:lpstr>
      <vt:lpstr>Table of Contents</vt:lpstr>
      <vt:lpstr>Definition of Abstraction</vt:lpstr>
      <vt:lpstr>Importance  of Abstraction</vt:lpstr>
      <vt:lpstr>Importance  of Abstraction</vt:lpstr>
      <vt:lpstr>Difference Between Abstraction and Encapsulation</vt:lpstr>
      <vt:lpstr> Abstraction Example</vt:lpstr>
      <vt:lpstr> Abstraction Example</vt:lpstr>
      <vt:lpstr>Achieving Abstraction</vt:lpstr>
      <vt:lpstr>Achieving Abstraction</vt:lpstr>
      <vt:lpstr>Declaring Abstract Classes (using abstract keyword)</vt:lpstr>
      <vt:lpstr>Declaring Abstract Classes (using abstract keyword)</vt:lpstr>
      <vt:lpstr>Abstract vs. Concrete Classes</vt:lpstr>
      <vt:lpstr>Abstract vs. Concrete Classes</vt:lpstr>
      <vt:lpstr>Abstract Methods — Declaration and Implementation Rules</vt:lpstr>
      <vt:lpstr>Abstract Methods — Declaration and Implementation Rules</vt:lpstr>
      <vt:lpstr>Abstract Methods — Declaration and Implementation Rules</vt:lpstr>
      <vt:lpstr>Rules for Constructors and Fields in Abstract Classes</vt:lpstr>
      <vt:lpstr>Rules for Constructors and Fields in Abstract Classes</vt:lpstr>
      <vt:lpstr>Rules for Constructors and Fields in Abstract Classes</vt:lpstr>
      <vt:lpstr>Rules for Constructors and Fields in Abstract Classes</vt:lpstr>
      <vt:lpstr>Inheritance and Method Overriding in Abstract Classes</vt:lpstr>
      <vt:lpstr>Inheritance and Method Overriding in Abstract Classes</vt:lpstr>
      <vt:lpstr>Inheritance and Method Overriding in Abstract Classes</vt:lpstr>
      <vt:lpstr>Inheritance and Method Overriding in Abstract Classes</vt:lpstr>
      <vt:lpstr>Example programs using abstract classes </vt:lpstr>
      <vt:lpstr>Example programs using abstract classes </vt:lpstr>
      <vt:lpstr>Interfaces</vt:lpstr>
      <vt:lpstr>Interfaces</vt:lpstr>
      <vt:lpstr>Interfaces</vt:lpstr>
      <vt:lpstr>Interfaces (capabilities across unrelated types)</vt:lpstr>
      <vt:lpstr>Interfaces (capabilities across unrelated types)</vt:lpstr>
      <vt:lpstr>Abstract Classes (shared state + partial implementation)</vt:lpstr>
      <vt:lpstr>Abstract Classes (shared state + partial implementation)</vt:lpstr>
      <vt:lpstr>Declaring Interfaces (interface keyword)</vt:lpstr>
      <vt:lpstr>Declaring Interfaces (interface keyword)</vt:lpstr>
      <vt:lpstr>Interface Implementation (implements) — </vt:lpstr>
      <vt:lpstr>Multiple Inheritance via Interfaces (Java)</vt:lpstr>
      <vt:lpstr>Multiple Inheritance via Interfaces (Java)</vt:lpstr>
      <vt:lpstr>Extending Interfaces in Java</vt:lpstr>
      <vt:lpstr>Extending Interfaces in Java</vt:lpstr>
      <vt:lpstr>Extending Interfaces in Java</vt:lpstr>
      <vt:lpstr>Extending Interfaces in Java</vt:lpstr>
      <vt:lpstr>Abstract Class vs Interface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&lt;p&gt;Module: Abstraction in Object-Oriented Programming&lt;/p&gt;
</dc:title>
  <cp:lastModifiedBy>pc</cp:lastModifiedBy>
  <cp:revision>11</cp:revision>
  <dcterms:created xsi:type="dcterms:W3CDTF">2025-10-22T03:38:25Z</dcterms:created>
  <dcterms:modified xsi:type="dcterms:W3CDTF">2026-01-08T16:08:41Z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Producer">
    <vt:lpwstr>WeasyPrint 66.0</vt:lpwstr>
  </property>
  <property fmtid="{D5CDD505-2E9C-101B-9397-08002B2CF9AE}" pid="4" name="LastSaved">
    <vt:filetime>2025-10-22T00:00:00Z</vt:filetime>
  </property>
</Properties>
</file>